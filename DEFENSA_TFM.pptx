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Presento un trabajo que empezo buscando biomarcadores de cancer de pulmon y termino auditando por que esas busquedas fallan. El giro no fue una eleccion de partida: fue lo que impusieron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partida es un problema reconocido: la falta de reproducibilidad de las firmas transcriptomicas. Trece cohortes, casi mil cuatrocientas muestras. Y una decision metodologica que marca todo lo que viene: cada hipotesis se fijo con su umbral ANTES de ejecutar el analisis.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giro del trabajo y quiero ser explicito sobre el. El planteamiento inicial era el de la izquierda. Los analisis de validacion mostraron tres cosas que lo impiden: la firma mide composicion tisular, su estabilidad era artefacto del diseno, y la tarea no tiene valor clinico. El pipeline funciona; la interpretacion no se sostenia.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cohortes con datos utilizables. Fijense en la columna de la derecha: tres cohortes no tienen controles sanos. Eso importa mucho y volveremos a ello. Y en el pie: tres cohortes declaradas nunca se procesaron, sin que el pipeline emitiera ningun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analisis, cada uno con hipotesis y umbral fijados de antemano. Dos no se confirmaron. Podria haber movido los umbrales para que salieran bien; no lo hice, y esa decision es parte de lo que presento.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modos de fallo, y el rasgo que los hace peligrosos es comun a los cuatro: ninguno lanza un error. El pipeline termina y produce tablas que parecen bien. El segundo es el mas instructivo y le dedico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que mas me ensenó. Con el bug, el AUC era 0,56: azar. Corregido, 0,99. Y lo importante: 0,56 es perfectamente compatible con la conclusion 'esta senal no generaliza'. Solo comparar con marcadores conocidos lo revelo. La validacion contra biologia previa no es adorno interpretativo: es un control de integridad de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Repeti la validacion con el mismo modelo. Solo cambie dos cosas: alineamiento corregido y metricas completas. La balanced accuracy sobre cohortes evaluables es 0,772. Y tres de ocho no superan su propio baseline: son peores que predecir siempre la clase mayoritaria.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resultado no estaba en la hipotesis y es el mas util del trabajo. Descompone 'el modelo generaliza' en dos propiedades que transfieren por separado: la ordenacion transfiere, el umbral no. Y reinterpreta un patron que el analisis original registraba sin explicar: los casos de accuracy 0,5 con AUC 1,0 no eran dificultad del problema, eran calibracion.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mi hipotesis NO se confirmo al umbral que fije. Rho es -0,626, por debajo de 0,7. No movi el umbral. La conclusion honesta es intermedia y probablemente mas correcta que mi hipotesis de partida: la composicion explica mucho pero no todo, y hay un segundo eje de proliferacion que no habia previsto.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metrica que no puede tomar valores bajos no aporta informacion. Las 28 parejas de folds concuerdan al 100 por cien, sin excepcion. Mitades disjuntas de tamano comparable, al 77. La consecuencia es contundente: ninguno de los siete genes que la memoria previa destacaba replica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Necesitaba distinguir 'el marco mide mal' de 'no hay senal'. Aplicando el mismo pipeline a subtipo histologico: AUC 0,968, y recupera los doce marcadores que se usan en inmunohistoquimica clinica, todos en la direccion correcta. El marco funciona cuando hay senal. Y quiero ser claro: esto no es un hallazgo original, es un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Tenia que someter el modelo a lo que habia excluido. Mi hipotesis tampoco se confirmo: es mas prudente de lo que predije. Pero el agregado oculta lo importante: el 92 por ciento de los neuroendocrinos se etiqueta como adenocarcinoma, y el microcitico se trata de forma completamente distinta. Ese si es un fallo con consecuencia clinica.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aportacion que defiendo: no una firma, sino seis controles concretos, cada uno derivado de un fallo que este trabajo encontro y midio. Son aplicables a cualquier pipeline de descubrimiento sobre repositorios publicos.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cifras resumen el trabajo. El rendimiento real es mas bajo que el reportado. Ninguno de los siete genes replica. Y el marco si detecta biologia cuando la hay. La conclusion es la de abajo: el framework es valido, el hallazgo no lo era, y lo he medido en lugar de afirmarlo.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lineas, y ninguna necesita datos nuevos. Lo mas elegante: las dos cohortes que rompian el clasificador binario, por no tener controles, son cohortes de supervivencia. Para la pregunta correcta pasan de ser el problema a ser el mejor activo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metodologicas y las publicaciones originales de las cohortes. Todo el codigo esta publico, y los analisis son deterministas: dos ejecuciones producen resultados identicos.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Quedo a disposicion del tribunal para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658368" y="1371600"/>
            <a:ext cx="10844784" cy="274320"/>
          </a:xfrm>
          <a:prstGeom prst="rect">
            <a:avLst/>
          </a:prstGeom>
          <a:noFill/>
          <a:ln/>
        </p:spPr>
        <p:txBody>
          <a:bodyPr wrap="square" lIns="0" tIns="0" rIns="0" bIns="0" rtlCol="0" anchor="ctr"/>
          <a:lstStyle/>
          <a:p>
            <a:pPr indent="0" marL="0">
              <a:buNone/>
            </a:pPr>
            <a:r>
              <a:rPr lang="en-US" sz="1100" b="1" spc="260" kern="0" dirty="0">
                <a:solidFill>
                  <a:srgbClr val="898781"/>
                </a:solidFill>
                <a:latin typeface="Calibri" pitchFamily="34" charset="0"/>
                <a:ea typeface="Calibri" pitchFamily="34" charset="-122"/>
                <a:cs typeface="Calibri" pitchFamily="34" charset="-120"/>
              </a:rPr>
              <a:t>TRABAJO DE FIN DE MÁSTER  ·  MÁSTER UNIVERSITARIO EN BIOINFORMÁTICA</a:t>
            </a:r>
            <a:endParaRPr lang="en-US" sz="1100" dirty="0"/>
          </a:p>
        </p:txBody>
      </p:sp>
      <p:sp>
        <p:nvSpPr>
          <p:cNvPr id="3" name="Text 1"/>
          <p:cNvSpPr/>
          <p:nvPr/>
        </p:nvSpPr>
        <p:spPr>
          <a:xfrm>
            <a:off x="658368" y="1874520"/>
            <a:ext cx="8778240" cy="2286000"/>
          </a:xfrm>
          <a:prstGeom prst="rect">
            <a:avLst/>
          </a:prstGeom>
          <a:noFill/>
          <a:ln/>
        </p:spPr>
        <p:txBody>
          <a:bodyPr wrap="square" lIns="0" tIns="0" rIns="0" bIns="0" rtlCol="0" anchor="t"/>
          <a:lstStyle/>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Auditoría de reproducibilidad</a:t>
            </a:r>
            <a:endParaRPr lang="en-US" sz="4000" dirty="0"/>
          </a:p>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de firmas transcriptómicas</a:t>
            </a:r>
            <a:endParaRPr lang="en-US" sz="4000" dirty="0"/>
          </a:p>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en cáncer de pulmón</a:t>
            </a:r>
            <a:endParaRPr lang="en-US" sz="4000" dirty="0"/>
          </a:p>
        </p:txBody>
      </p:sp>
      <p:sp>
        <p:nvSpPr>
          <p:cNvPr id="4" name="Text 2"/>
          <p:cNvSpPr/>
          <p:nvPr/>
        </p:nvSpPr>
        <p:spPr>
          <a:xfrm>
            <a:off x="658368" y="4224528"/>
            <a:ext cx="8595360" cy="731520"/>
          </a:xfrm>
          <a:prstGeom prst="rect">
            <a:avLst/>
          </a:prstGeom>
          <a:noFill/>
          <a:ln/>
        </p:spPr>
        <p:txBody>
          <a:bodyPr wrap="square" lIns="0" tIns="0" rIns="0" bIns="0" rtlCol="0" anchor="ctr"/>
          <a:lstStyle/>
          <a:p>
            <a:pPr indent="0" marL="0">
              <a:lnSpc>
                <a:spcPct val="120000"/>
              </a:lnSpc>
              <a:buNone/>
            </a:pPr>
            <a:r>
              <a:rPr lang="en-US" sz="1500" i="1" dirty="0">
                <a:solidFill>
                  <a:srgbClr val="C3C2B7"/>
                </a:solidFill>
                <a:latin typeface="Cambria" pitchFamily="34" charset="0"/>
                <a:ea typeface="Cambria" pitchFamily="34" charset="-122"/>
                <a:cs typeface="Cambria" pitchFamily="34" charset="-120"/>
              </a:rPr>
              <a:t>Cuándo una firma molecular parece funcionar y no funciona:</a:t>
            </a:r>
            <a:endParaRPr lang="en-US" sz="1500" dirty="0"/>
          </a:p>
          <a:p>
            <a:pPr indent="0" marL="0">
              <a:lnSpc>
                <a:spcPct val="120000"/>
              </a:lnSpc>
              <a:buNone/>
            </a:pPr>
            <a:r>
              <a:rPr lang="en-US" sz="1500" i="1" dirty="0">
                <a:solidFill>
                  <a:srgbClr val="C3C2B7"/>
                </a:solidFill>
                <a:latin typeface="Cambria" pitchFamily="34" charset="0"/>
                <a:ea typeface="Cambria" pitchFamily="34" charset="-122"/>
                <a:cs typeface="Cambria" pitchFamily="34" charset="-120"/>
              </a:rPr>
              <a:t>cuatro modos de fallo silencioso en pipelines sobre datos públicos</a:t>
            </a:r>
            <a:endParaRPr lang="en-US" sz="1500" dirty="0"/>
          </a:p>
        </p:txBody>
      </p:sp>
      <p:sp>
        <p:nvSpPr>
          <p:cNvPr id="5" name="Shape 3"/>
          <p:cNvSpPr/>
          <p:nvPr/>
        </p:nvSpPr>
        <p:spPr>
          <a:xfrm>
            <a:off x="658368" y="5230368"/>
            <a:ext cx="2834640" cy="0"/>
          </a:xfrm>
          <a:prstGeom prst="line">
            <a:avLst/>
          </a:prstGeom>
          <a:noFill/>
          <a:ln w="30480">
            <a:solidFill>
              <a:srgbClr val="2A78D6"/>
            </a:solidFill>
            <a:prstDash val="solid"/>
          </a:ln>
        </p:spPr>
      </p:sp>
      <p:sp>
        <p:nvSpPr>
          <p:cNvPr id="6" name="Text 4"/>
          <p:cNvSpPr/>
          <p:nvPr/>
        </p:nvSpPr>
        <p:spPr>
          <a:xfrm>
            <a:off x="658368" y="5440680"/>
            <a:ext cx="5486400" cy="1005840"/>
          </a:xfrm>
          <a:prstGeom prst="rect">
            <a:avLst/>
          </a:prstGeom>
          <a:noFill/>
          <a:ln/>
        </p:spPr>
        <p:txBody>
          <a:bodyPr wrap="square" lIns="0" tIns="0" rIns="0" bIns="0" rtlCol="0" anchor="ctr"/>
          <a:lstStyle/>
          <a:p>
            <a:pPr indent="0" marL="0">
              <a:lnSpc>
                <a:spcPct val="124000"/>
              </a:lnSpc>
              <a:buNone/>
            </a:pPr>
            <a:r>
              <a:rPr lang="en-US" sz="1400" b="1" dirty="0">
                <a:solidFill>
                  <a:srgbClr val="FFFFFF"/>
                </a:solidFill>
                <a:latin typeface="Calibri" pitchFamily="34" charset="0"/>
                <a:ea typeface="Calibri" pitchFamily="34" charset="-122"/>
                <a:cs typeface="Calibri" pitchFamily="34" charset="-120"/>
              </a:rPr>
              <a:t>Daniel Tapia Díez</a:t>
            </a:r>
            <a:pPr indent="0" marL="0">
              <a:lnSpc>
                <a:spcPct val="124000"/>
              </a:lnSpc>
              <a:buNone/>
            </a:pPr>
            <a:endParaRPr lang="en-US" sz="1400" dirty="0"/>
          </a:p>
          <a:p>
            <a:pPr indent="0" marL="0">
              <a:lnSpc>
                <a:spcPct val="124000"/>
              </a:lnSpc>
              <a:buNone/>
            </a:pPr>
            <a:r>
              <a:rPr lang="en-US" sz="1200" dirty="0">
                <a:solidFill>
                  <a:srgbClr val="898781"/>
                </a:solidFill>
                <a:latin typeface="Calibri" pitchFamily="34" charset="0"/>
                <a:ea typeface="Calibri" pitchFamily="34" charset="-122"/>
                <a:cs typeface="Calibri" pitchFamily="34" charset="-120"/>
              </a:rPr>
              <a:t>Tutor: Leonardo Dulcetti</a:t>
            </a:r>
            <a:endParaRPr lang="en-US" sz="1400" dirty="0"/>
          </a:p>
          <a:p>
            <a:pPr indent="0" marL="0">
              <a:lnSpc>
                <a:spcPct val="124000"/>
              </a:lnSpc>
              <a:buNone/>
            </a:pPr>
            <a:endParaRPr lang="en-US" sz="1400" dirty="0"/>
          </a:p>
          <a:p>
            <a:pPr indent="0" marL="0">
              <a:lnSpc>
                <a:spcPct val="124000"/>
              </a:lnSpc>
              <a:buNone/>
            </a:pPr>
            <a:r>
              <a:rPr lang="en-US" sz="1200" dirty="0">
                <a:solidFill>
                  <a:srgbClr val="898781"/>
                </a:solidFill>
                <a:latin typeface="Calibri" pitchFamily="34" charset="0"/>
                <a:ea typeface="Calibri" pitchFamily="34" charset="-122"/>
                <a:cs typeface="Calibri" pitchFamily="34" charset="-120"/>
              </a:rPr>
              <a:t>Universidad Alfonso X el Sabio  ·  Madrid,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EL PROBLEMA</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2700" b="1" dirty="0">
                <a:solidFill>
                  <a:srgbClr val="1A1D21"/>
                </a:solidFill>
                <a:latin typeface="Cambria" pitchFamily="34" charset="0"/>
                <a:ea typeface="Cambria" pitchFamily="34" charset="-122"/>
                <a:cs typeface="Cambria" pitchFamily="34" charset="-120"/>
              </a:rPr>
              <a:t>Una firma molecular que funciona en un estudio</a:t>
            </a:r>
            <a:endParaRPr lang="en-US" sz="2700" dirty="0"/>
          </a:p>
          <a:p>
            <a:pPr indent="0" marL="0">
              <a:buNone/>
            </a:pPr>
            <a:r>
              <a:rPr lang="en-US" sz="2700" b="1" dirty="0">
                <a:solidFill>
                  <a:srgbClr val="1A1D21"/>
                </a:solidFill>
                <a:latin typeface="Cambria" pitchFamily="34" charset="0"/>
                <a:ea typeface="Cambria" pitchFamily="34" charset="-122"/>
                <a:cs typeface="Cambria" pitchFamily="34" charset="-120"/>
              </a:rPr>
              <a:t>suele no funcionar en el siguiente</a:t>
            </a:r>
            <a:endParaRPr lang="en-US" sz="2700" dirty="0"/>
          </a:p>
        </p:txBody>
      </p:sp>
      <p:sp>
        <p:nvSpPr>
          <p:cNvPr id="4" name="Text 2"/>
          <p:cNvSpPr/>
          <p:nvPr/>
        </p:nvSpPr>
        <p:spPr>
          <a:xfrm>
            <a:off x="658368" y="2103120"/>
            <a:ext cx="5943600" cy="1554480"/>
          </a:xfrm>
          <a:prstGeom prst="rect">
            <a:avLst/>
          </a:prstGeom>
          <a:noFill/>
          <a:ln/>
        </p:spPr>
        <p:txBody>
          <a:bodyPr wrap="square" lIns="0" tIns="0" rIns="0" bIns="0" rtlCol="0" anchor="ctr"/>
          <a:lstStyle/>
          <a:p>
            <a:pPr indent="0" marL="0">
              <a:lnSpc>
                <a:spcPct val="132000"/>
              </a:lnSpc>
              <a:buNone/>
            </a:pPr>
            <a:r>
              <a:rPr lang="en-US" sz="1450" dirty="0">
                <a:solidFill>
                  <a:srgbClr val="52514E"/>
                </a:solidFill>
                <a:latin typeface="Calibri" pitchFamily="34" charset="0"/>
                <a:ea typeface="Calibri" pitchFamily="34" charset="-122"/>
                <a:cs typeface="Calibri" pitchFamily="34" charset="-120"/>
              </a:rPr>
              <a:t>Los repositorios públicos como NCBI GEO ofrecen miles de cohortes transcriptómicas reutilizables. Pero integrar estudios independientes introduce variabilidad de plataforma, efecto lote y metadatos clínicos heterogéneos. El resultado conocido: una firma identificada en una cohorte raramente se reproduce en otra.</a:t>
            </a:r>
            <a:endParaRPr lang="en-US" sz="1450" dirty="0"/>
          </a:p>
        </p:txBody>
      </p:sp>
      <p:sp>
        <p:nvSpPr>
          <p:cNvPr id="5" name="Text 3"/>
          <p:cNvSpPr/>
          <p:nvPr/>
        </p:nvSpPr>
        <p:spPr>
          <a:xfrm>
            <a:off x="658368" y="3794760"/>
            <a:ext cx="5943600" cy="822960"/>
          </a:xfrm>
          <a:prstGeom prst="rect">
            <a:avLst/>
          </a:prstGeom>
          <a:noFill/>
          <a:ln/>
        </p:spPr>
        <p:txBody>
          <a:bodyPr wrap="square" lIns="0" tIns="0" rIns="0" bIns="0" rtlCol="0" anchor="ctr"/>
          <a:lstStyle/>
          <a:p>
            <a:pPr indent="0" marL="0">
              <a:lnSpc>
                <a:spcPct val="126000"/>
              </a:lnSpc>
              <a:buNone/>
            </a:pPr>
            <a:r>
              <a:rPr lang="en-US" sz="1500" i="1" dirty="0">
                <a:solidFill>
                  <a:srgbClr val="1A1D21"/>
                </a:solidFill>
                <a:latin typeface="Cambria" pitchFamily="34" charset="0"/>
                <a:ea typeface="Cambria" pitchFamily="34" charset="-122"/>
                <a:cs typeface="Cambria" pitchFamily="34" charset="-120"/>
              </a:rPr>
              <a:t>La pregunta que este trabajo acabó respondiendo no es «qué genes» sino «por qué el pipeline no avisa cuando se equivoca».</a:t>
            </a:r>
            <a:endParaRPr lang="en-US" sz="1500" dirty="0"/>
          </a:p>
        </p:txBody>
      </p:sp>
      <p:sp>
        <p:nvSpPr>
          <p:cNvPr id="6" name="Shape 4"/>
          <p:cNvSpPr/>
          <p:nvPr/>
        </p:nvSpPr>
        <p:spPr>
          <a:xfrm>
            <a:off x="7040880" y="2011680"/>
            <a:ext cx="4462272" cy="3858768"/>
          </a:xfrm>
          <a:prstGeom prst="roundRect">
            <a:avLst>
              <a:gd name="adj" fmla="val 1422"/>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7" name="Text 5"/>
          <p:cNvSpPr/>
          <p:nvPr/>
        </p:nvSpPr>
        <p:spPr>
          <a:xfrm>
            <a:off x="7406640" y="2286000"/>
            <a:ext cx="3749040" cy="713232"/>
          </a:xfrm>
          <a:prstGeom prst="rect">
            <a:avLst/>
          </a:prstGeom>
          <a:noFill/>
          <a:ln/>
        </p:spPr>
        <p:txBody>
          <a:bodyPr wrap="square" lIns="0" tIns="0" rIns="0" bIns="0" rtlCol="0" anchor="t"/>
          <a:lstStyle/>
          <a:p>
            <a:pPr indent="0" marL="0">
              <a:buNone/>
            </a:pPr>
            <a:r>
              <a:rPr lang="en-US" sz="4000" b="1" dirty="0">
                <a:solidFill>
                  <a:srgbClr val="1A1D21"/>
                </a:solidFill>
                <a:latin typeface="Cambria" pitchFamily="34" charset="0"/>
                <a:ea typeface="Cambria" pitchFamily="34" charset="-122"/>
                <a:cs typeface="Cambria" pitchFamily="34" charset="-120"/>
              </a:rPr>
              <a:t>13</a:t>
            </a:r>
            <a:endParaRPr lang="en-US" sz="4000" dirty="0"/>
          </a:p>
        </p:txBody>
      </p:sp>
      <p:sp>
        <p:nvSpPr>
          <p:cNvPr id="8" name="Text 6"/>
          <p:cNvSpPr/>
          <p:nvPr/>
        </p:nvSpPr>
        <p:spPr>
          <a:xfrm>
            <a:off x="7406640" y="2980944"/>
            <a:ext cx="374904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cohortes GEO descargadas</a:t>
            </a:r>
            <a:endParaRPr lang="en-US" sz="1100" dirty="0"/>
          </a:p>
        </p:txBody>
      </p:sp>
      <p:sp>
        <p:nvSpPr>
          <p:cNvPr id="9" name="Text 7"/>
          <p:cNvSpPr/>
          <p:nvPr/>
        </p:nvSpPr>
        <p:spPr>
          <a:xfrm>
            <a:off x="7406640" y="3474720"/>
            <a:ext cx="3749040" cy="713232"/>
          </a:xfrm>
          <a:prstGeom prst="rect">
            <a:avLst/>
          </a:prstGeom>
          <a:noFill/>
          <a:ln/>
        </p:spPr>
        <p:txBody>
          <a:bodyPr wrap="square" lIns="0" tIns="0" rIns="0" bIns="0" rtlCol="0" anchor="t"/>
          <a:lstStyle/>
          <a:p>
            <a:pPr indent="0" marL="0">
              <a:buNone/>
            </a:pPr>
            <a:r>
              <a:rPr lang="en-US" sz="4000" b="1" dirty="0">
                <a:solidFill>
                  <a:srgbClr val="1A1D21"/>
                </a:solidFill>
                <a:latin typeface="Cambria" pitchFamily="34" charset="0"/>
                <a:ea typeface="Cambria" pitchFamily="34" charset="-122"/>
                <a:cs typeface="Cambria" pitchFamily="34" charset="-120"/>
              </a:rPr>
              <a:t>1397</a:t>
            </a:r>
            <a:endParaRPr lang="en-US" sz="4000" dirty="0"/>
          </a:p>
        </p:txBody>
      </p:sp>
      <p:sp>
        <p:nvSpPr>
          <p:cNvPr id="10" name="Text 8"/>
          <p:cNvSpPr/>
          <p:nvPr/>
        </p:nvSpPr>
        <p:spPr>
          <a:xfrm>
            <a:off x="7406640" y="4169664"/>
            <a:ext cx="374904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muestras procesadas</a:t>
            </a:r>
            <a:endParaRPr lang="en-US" sz="1100" dirty="0"/>
          </a:p>
        </p:txBody>
      </p:sp>
      <p:sp>
        <p:nvSpPr>
          <p:cNvPr id="11" name="Text 9"/>
          <p:cNvSpPr/>
          <p:nvPr/>
        </p:nvSpPr>
        <p:spPr>
          <a:xfrm>
            <a:off x="7406640" y="4663440"/>
            <a:ext cx="3749040" cy="713232"/>
          </a:xfrm>
          <a:prstGeom prst="rect">
            <a:avLst/>
          </a:prstGeom>
          <a:noFill/>
          <a:ln/>
        </p:spPr>
        <p:txBody>
          <a:bodyPr wrap="square" lIns="0" tIns="0" rIns="0" bIns="0" rtlCol="0" anchor="t"/>
          <a:lstStyle/>
          <a:p>
            <a:pPr indent="0" marL="0">
              <a:buNone/>
            </a:pPr>
            <a:r>
              <a:rPr lang="en-US" sz="4000" b="1" dirty="0">
                <a:solidFill>
                  <a:srgbClr val="2A78D6"/>
                </a:solidFill>
                <a:latin typeface="Cambria" pitchFamily="34" charset="0"/>
                <a:ea typeface="Cambria" pitchFamily="34" charset="-122"/>
                <a:cs typeface="Cambria" pitchFamily="34" charset="-120"/>
              </a:rPr>
              <a:t>5</a:t>
            </a:r>
            <a:endParaRPr lang="en-US" sz="4000" dirty="0"/>
          </a:p>
        </p:txBody>
      </p:sp>
      <p:sp>
        <p:nvSpPr>
          <p:cNvPr id="12" name="Text 10"/>
          <p:cNvSpPr/>
          <p:nvPr/>
        </p:nvSpPr>
        <p:spPr>
          <a:xfrm>
            <a:off x="7406640" y="5358384"/>
            <a:ext cx="374904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hipótesis con umbral fijado antes de ejecutar</a:t>
            </a:r>
            <a:endParaRPr lang="en-US" sz="1100" dirty="0"/>
          </a:p>
        </p:txBody>
      </p:sp>
      <p:sp>
        <p:nvSpPr>
          <p:cNvPr id="13" name="Text 11"/>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Datos: NCBI Gene Expression Omnibus · plataformas GPL570, GPL96 y GPL13497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REORIENTACIÓN DEL OBJETO DE ESTUDIO</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El planteamiento inicial no se sostuvo</a:t>
            </a:r>
            <a:endParaRPr lang="en-US" sz="3200" dirty="0"/>
          </a:p>
        </p:txBody>
      </p:sp>
      <p:sp>
        <p:nvSpPr>
          <p:cNvPr id="4" name="Shape 2"/>
          <p:cNvSpPr/>
          <p:nvPr/>
        </p:nvSpPr>
        <p:spPr>
          <a:xfrm>
            <a:off x="658368" y="1874520"/>
            <a:ext cx="5257800" cy="3566160"/>
          </a:xfrm>
          <a:prstGeom prst="roundRect">
            <a:avLst>
              <a:gd name="adj" fmla="val 1538"/>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5" name="Text 3"/>
          <p:cNvSpPr/>
          <p:nvPr/>
        </p:nvSpPr>
        <p:spPr>
          <a:xfrm>
            <a:off x="969264" y="2139696"/>
            <a:ext cx="4663440" cy="256032"/>
          </a:xfrm>
          <a:prstGeom prst="rect">
            <a:avLst/>
          </a:prstGeom>
          <a:noFill/>
          <a:ln/>
        </p:spPr>
        <p:txBody>
          <a:bodyPr wrap="square" lIns="0" tIns="0" rIns="0" bIns="0" rtlCol="0" anchor="ctr"/>
          <a:lstStyle/>
          <a:p>
            <a:pPr indent="0" marL="0">
              <a:buNone/>
            </a:pPr>
            <a:r>
              <a:rPr lang="en-US" sz="1000" b="1" spc="180" kern="0" dirty="0">
                <a:solidFill>
                  <a:srgbClr val="898781"/>
                </a:solidFill>
                <a:latin typeface="Calibri" pitchFamily="34" charset="0"/>
                <a:ea typeface="Calibri" pitchFamily="34" charset="-122"/>
                <a:cs typeface="Calibri" pitchFamily="34" charset="-120"/>
              </a:rPr>
              <a:t>PLANTEAMIENTO INICIAL</a:t>
            </a:r>
            <a:endParaRPr lang="en-US" sz="1000" dirty="0"/>
          </a:p>
        </p:txBody>
      </p:sp>
      <p:sp>
        <p:nvSpPr>
          <p:cNvPr id="6" name="Text 4"/>
          <p:cNvSpPr/>
          <p:nvPr/>
        </p:nvSpPr>
        <p:spPr>
          <a:xfrm>
            <a:off x="969264" y="2487168"/>
            <a:ext cx="4617720" cy="2743200"/>
          </a:xfrm>
          <a:prstGeom prst="rect">
            <a:avLst/>
          </a:prstGeom>
          <a:noFill/>
          <a:ln/>
        </p:spPr>
        <p:txBody>
          <a:bodyPr wrap="square" lIns="0" tIns="0" rIns="0" bIns="0" rtlCol="0" anchor="t"/>
          <a:lstStyle/>
          <a:p>
            <a:pPr indent="0" marL="0">
              <a:lnSpc>
                <a:spcPct val="124000"/>
              </a:lnSpc>
              <a:buNone/>
            </a:pPr>
            <a:r>
              <a:rPr lang="en-US" sz="1400" b="1" dirty="0">
                <a:solidFill>
                  <a:srgbClr val="1A1D21"/>
                </a:solidFill>
                <a:latin typeface="Calibri" pitchFamily="34" charset="0"/>
                <a:ea typeface="Calibri" pitchFamily="34" charset="-122"/>
                <a:cs typeface="Calibri" pitchFamily="34" charset="-120"/>
              </a:rPr>
              <a:t>Identificar biomarcadores universales de cáncer de pulmón</a:t>
            </a:r>
            <a:pPr indent="0" marL="0">
              <a:lnSpc>
                <a:spcPct val="124000"/>
              </a:lnSpc>
              <a:buNone/>
            </a:pPr>
            <a:endParaRPr lang="en-US" sz="1400" dirty="0"/>
          </a:p>
          <a:p>
            <a:pPr indent="0" marL="0">
              <a:lnSpc>
                <a:spcPct val="124000"/>
              </a:lnSpc>
              <a:buNone/>
            </a:pPr>
            <a:endParaRPr lang="en-US" sz="1400" dirty="0"/>
          </a:p>
          <a:p>
            <a:pPr indent="0" marL="0">
              <a:lnSpc>
                <a:spcPct val="124000"/>
              </a:lnSpc>
              <a:buNone/>
            </a:pPr>
            <a:r>
              <a:rPr lang="en-US" sz="1250" dirty="0">
                <a:solidFill>
                  <a:srgbClr val="52514E"/>
                </a:solidFill>
                <a:latin typeface="Calibri" pitchFamily="34" charset="0"/>
                <a:ea typeface="Calibri" pitchFamily="34" charset="-122"/>
                <a:cs typeface="Calibri" pitchFamily="34" charset="-120"/>
              </a:rPr>
              <a:t>Meta-análisis de 13 cohortes, consenso direccional, validación LODO. Firma final encabezada por SLC6A4, KANK3, TOX3 y S100A10.</a:t>
            </a:r>
            <a:endParaRPr lang="en-US" sz="1400" dirty="0"/>
          </a:p>
        </p:txBody>
      </p:sp>
      <p:sp>
        <p:nvSpPr>
          <p:cNvPr id="7" name="Shape 5"/>
          <p:cNvSpPr/>
          <p:nvPr/>
        </p:nvSpPr>
        <p:spPr>
          <a:xfrm>
            <a:off x="6382512" y="1874520"/>
            <a:ext cx="5120640" cy="3566160"/>
          </a:xfrm>
          <a:prstGeom prst="roundRect">
            <a:avLst>
              <a:gd name="adj" fmla="val 1538"/>
            </a:avLst>
          </a:prstGeom>
          <a:solidFill>
            <a:srgbClr val="1A1D21"/>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8" name="Text 6"/>
          <p:cNvSpPr/>
          <p:nvPr/>
        </p:nvSpPr>
        <p:spPr>
          <a:xfrm>
            <a:off x="6693408" y="2139696"/>
            <a:ext cx="4526280" cy="256032"/>
          </a:xfrm>
          <a:prstGeom prst="rect">
            <a:avLst/>
          </a:prstGeom>
          <a:noFill/>
          <a:ln/>
        </p:spPr>
        <p:txBody>
          <a:bodyPr wrap="square" lIns="0" tIns="0" rIns="0" bIns="0" rtlCol="0" anchor="ctr"/>
          <a:lstStyle/>
          <a:p>
            <a:pPr indent="0" marL="0">
              <a:buNone/>
            </a:pPr>
            <a:r>
              <a:rPr lang="en-US" sz="1000" b="1" spc="180" kern="0" dirty="0">
                <a:solidFill>
                  <a:srgbClr val="898781"/>
                </a:solidFill>
                <a:latin typeface="Calibri" pitchFamily="34" charset="0"/>
                <a:ea typeface="Calibri" pitchFamily="34" charset="-122"/>
                <a:cs typeface="Calibri" pitchFamily="34" charset="-120"/>
              </a:rPr>
              <a:t>LO QUE LOS DATOS PERMITÍAN AFIRMAR</a:t>
            </a:r>
            <a:endParaRPr lang="en-US" sz="1000" dirty="0"/>
          </a:p>
        </p:txBody>
      </p:sp>
      <p:sp>
        <p:nvSpPr>
          <p:cNvPr id="9" name="Text 7"/>
          <p:cNvSpPr/>
          <p:nvPr/>
        </p:nvSpPr>
        <p:spPr>
          <a:xfrm>
            <a:off x="6693408" y="2487168"/>
            <a:ext cx="4526280" cy="2743200"/>
          </a:xfrm>
          <a:prstGeom prst="rect">
            <a:avLst/>
          </a:prstGeom>
          <a:noFill/>
          <a:ln/>
        </p:spPr>
        <p:txBody>
          <a:bodyPr wrap="square" lIns="0" tIns="0" rIns="0" bIns="0" rtlCol="0" anchor="t"/>
          <a:lstStyle/>
          <a:p>
            <a:pPr indent="0" marL="0">
              <a:lnSpc>
                <a:spcPct val="124000"/>
              </a:lnSpc>
              <a:buNone/>
            </a:pPr>
            <a:r>
              <a:rPr lang="en-US" sz="1400" b="1" dirty="0">
                <a:solidFill>
                  <a:srgbClr val="FFFFFF"/>
                </a:solidFill>
                <a:latin typeface="Calibri" pitchFamily="34" charset="0"/>
                <a:ea typeface="Calibri" pitchFamily="34" charset="-122"/>
                <a:cs typeface="Calibri" pitchFamily="34" charset="-120"/>
              </a:rPr>
              <a:t>Caracterizar cómo fallan los pipelines sin emitir ningún error</a:t>
            </a:r>
            <a:pPr indent="0" marL="0">
              <a:lnSpc>
                <a:spcPct val="124000"/>
              </a:lnSpc>
              <a:buNone/>
            </a:pPr>
            <a:endParaRPr lang="en-US" sz="1400" dirty="0"/>
          </a:p>
          <a:p>
            <a:pPr indent="0" marL="0">
              <a:lnSpc>
                <a:spcPct val="124000"/>
              </a:lnSpc>
              <a:buNone/>
            </a:pPr>
            <a:endParaRPr lang="en-US" sz="1400" dirty="0"/>
          </a:p>
          <a:p>
            <a:pPr indent="0" marL="0">
              <a:lnSpc>
                <a:spcPct val="124000"/>
              </a:lnSpc>
              <a:buNone/>
            </a:pPr>
            <a:r>
              <a:rPr lang="en-US" sz="1250" dirty="0">
                <a:solidFill>
                  <a:srgbClr val="C3C2B7"/>
                </a:solidFill>
                <a:latin typeface="Calibri" pitchFamily="34" charset="0"/>
                <a:ea typeface="Calibri" pitchFamily="34" charset="-122"/>
                <a:cs typeface="Calibri" pitchFamily="34" charset="-120"/>
              </a:rPr>
              <a:t>La firma medía composición del tejido, su estabilidad era un artefacto del diseño de validación, y distinguir tumor de pulmón sano no es un problema clínico: lo resuelve una H&amp;E.</a:t>
            </a:r>
            <a:endParaRPr lang="en-US" sz="1400" dirty="0"/>
          </a:p>
        </p:txBody>
      </p:sp>
      <p:sp>
        <p:nvSpPr>
          <p:cNvPr id="10" name="Text 8"/>
          <p:cNvSpPr/>
          <p:nvPr/>
        </p:nvSpPr>
        <p:spPr>
          <a:xfrm>
            <a:off x="658368" y="5687568"/>
            <a:ext cx="10844784" cy="457200"/>
          </a:xfrm>
          <a:prstGeom prst="rect">
            <a:avLst/>
          </a:prstGeom>
          <a:noFill/>
          <a:ln/>
        </p:spPr>
        <p:txBody>
          <a:bodyPr wrap="square" lIns="0" tIns="0" rIns="0" bIns="0" rtlCol="0" anchor="ctr"/>
          <a:lstStyle/>
          <a:p>
            <a:pPr indent="0" marL="0">
              <a:buNone/>
            </a:pPr>
            <a:r>
              <a:rPr lang="en-US" sz="1450" i="1" dirty="0">
                <a:solidFill>
                  <a:srgbClr val="1A1D21"/>
                </a:solidFill>
                <a:latin typeface="Cambria" pitchFamily="34" charset="0"/>
                <a:ea typeface="Cambria" pitchFamily="34" charset="-122"/>
                <a:cs typeface="Cambria" pitchFamily="34" charset="-120"/>
              </a:rPr>
              <a:t>El framework no se descarta: funciona. Lo que se descarta es la lectura que se había hecho de sus resultados.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MATERIALES</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Once cohortes con datos procesables, de trece declaradas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1481328"/>
          <a:ext cx="7680960" cy="914400"/>
        </p:xfrm>
        <a:graphic>
          <a:graphicData uri="http://schemas.openxmlformats.org/drawingml/2006/table">
            <a:tbl>
              <a:tblPr/>
              <a:tblGrid>
                <a:gridCol w="1243584"/>
                <a:gridCol w="1188720"/>
                <a:gridCol w="749808"/>
                <a:gridCol w="859536"/>
                <a:gridCol w="1024128"/>
                <a:gridCol w="1371600"/>
                <a:gridCol w="1243584"/>
              </a:tblGrid>
              <a:tr h="24231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Cohorte</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Plataforma</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Sanas</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Enfermas</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Sin clasificar</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Evaluable</a:t>
                      </a:r>
                      <a:endParaRPr lang="en-US" sz="110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GSE118370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r h="242316">
                <a:tc>
                  <a:txBody>
                    <a:bodyPr/>
                    <a:lstStyle/>
                    <a:p>
                      <a:pPr indent="0" marL="0">
                        <a:buNone/>
                      </a:pPr>
                      <a:r>
                        <a:rPr lang="en-US" sz="1050" b="1" dirty="0">
                          <a:solidFill>
                            <a:srgbClr val="1A1D21"/>
                          </a:solidFill>
                          <a:latin typeface="Calibri" pitchFamily="34" charset="0"/>
                          <a:ea typeface="Calibri" pitchFamily="34" charset="-122"/>
                          <a:cs typeface="Calibri" pitchFamily="34" charset="-120"/>
                        </a:rPr>
                        <a:t>GSE140797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GPL13497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b="1" dirty="0">
                          <a:solidFill>
                            <a:srgbClr val="D03B3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ctr" indent="0" marL="0">
                        <a:buNone/>
                      </a:pPr>
                      <a:r>
                        <a:rPr lang="en-US" sz="1050" b="1" dirty="0">
                          <a:solidFill>
                            <a:srgbClr val="D03B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GSE18842</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91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GSE19188</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156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91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GSE19804</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GSE23066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r>
              <a:tr h="242316">
                <a:tc>
                  <a:txBody>
                    <a:bodyPr/>
                    <a:lstStyle/>
                    <a:p>
                      <a:pPr indent="0" marL="0">
                        <a:buNone/>
                      </a:pPr>
                      <a:r>
                        <a:rPr lang="en-US" sz="1050" b="1" dirty="0">
                          <a:solidFill>
                            <a:srgbClr val="1A1D21"/>
                          </a:solidFill>
                          <a:latin typeface="Calibri" pitchFamily="34" charset="0"/>
                          <a:ea typeface="Calibri" pitchFamily="34" charset="-122"/>
                          <a:cs typeface="Calibri" pitchFamily="34" charset="-120"/>
                        </a:rPr>
                        <a:t>GSE30219</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307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b="1" dirty="0">
                          <a:solidFill>
                            <a:srgbClr val="D03B3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307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ctr" indent="0" marL="0">
                        <a:buNone/>
                      </a:pPr>
                      <a:r>
                        <a:rPr lang="en-US" sz="1050" b="1" dirty="0">
                          <a:solidFill>
                            <a:srgbClr val="D03B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GSE31210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246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226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GSE40791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194</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b="1" dirty="0">
                          <a:solidFill>
                            <a:srgbClr val="D03B3B"/>
                          </a:solidFill>
                          <a:latin typeface="Calibri" pitchFamily="34" charset="0"/>
                          <a:ea typeface="Calibri" pitchFamily="34" charset="-122"/>
                          <a:cs typeface="Calibri" pitchFamily="34" charset="-120"/>
                        </a:rPr>
                        <a:t>182</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r h="242316">
                <a:tc>
                  <a:txBody>
                    <a:bodyPr/>
                    <a:lstStyle/>
                    <a:p>
                      <a:pPr indent="0" marL="0">
                        <a:buNone/>
                      </a:pPr>
                      <a:r>
                        <a:rPr lang="en-US" sz="1050" b="1" dirty="0">
                          <a:solidFill>
                            <a:srgbClr val="1A1D21"/>
                          </a:solidFill>
                          <a:latin typeface="Calibri" pitchFamily="34" charset="0"/>
                          <a:ea typeface="Calibri" pitchFamily="34" charset="-122"/>
                          <a:cs typeface="Calibri" pitchFamily="34" charset="-120"/>
                        </a:rPr>
                        <a:t>GSE50081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GPL570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181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b="1" dirty="0">
                          <a:solidFill>
                            <a:srgbClr val="D03B3B"/>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181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ctr" indent="0" marL="0">
                        <a:buNone/>
                      </a:pPr>
                      <a:r>
                        <a:rPr lang="en-US" sz="1050" b="1" dirty="0">
                          <a:solidFill>
                            <a:srgbClr val="D03B3B"/>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r>
              <a:tr h="242316">
                <a:tc>
                  <a:txBody>
                    <a:bodyPr/>
                    <a:lstStyle/>
                    <a:p>
                      <a:pPr indent="0" marL="0">
                        <a:buNone/>
                      </a:pPr>
                      <a:r>
                        <a:rPr lang="en-US" sz="1050" dirty="0">
                          <a:solidFill>
                            <a:srgbClr val="1A1D21"/>
                          </a:solidFill>
                          <a:latin typeface="Calibri" pitchFamily="34" charset="0"/>
                          <a:ea typeface="Calibri" pitchFamily="34" charset="-122"/>
                          <a:cs typeface="Calibri" pitchFamily="34" charset="-120"/>
                        </a:rPr>
                        <a:t>GSE7670</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indent="0" marL="0">
                        <a:buNone/>
                      </a:pPr>
                      <a:r>
                        <a:rPr lang="en-US" sz="1050" dirty="0">
                          <a:solidFill>
                            <a:srgbClr val="52514E"/>
                          </a:solidFill>
                          <a:latin typeface="Calibri" pitchFamily="34" charset="0"/>
                          <a:ea typeface="Calibri" pitchFamily="34" charset="-122"/>
                          <a:cs typeface="Calibri" pitchFamily="34" charset="-120"/>
                        </a:rPr>
                        <a:t>GPL96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1A1D21"/>
                          </a:solidFill>
                          <a:latin typeface="Calibri" pitchFamily="34" charset="0"/>
                          <a:ea typeface="Calibri" pitchFamily="34" charset="-122"/>
                          <a:cs typeface="Calibri" pitchFamily="34" charset="-120"/>
                        </a:rPr>
                        <a:t>66</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dirty="0">
                          <a:solidFill>
                            <a:srgbClr val="52514E"/>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050" b="1" dirty="0">
                          <a:solidFill>
                            <a:srgbClr val="D03B3B"/>
                          </a:solidFill>
                          <a:latin typeface="Calibri" pitchFamily="34" charset="0"/>
                          <a:ea typeface="Calibri" pitchFamily="34" charset="-122"/>
                          <a:cs typeface="Calibri" pitchFamily="34" charset="-120"/>
                        </a:rPr>
                        <a:t>51</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sí</a:t>
                      </a:r>
                      <a:endParaRPr lang="en-US" sz="10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bl>
          </a:graphicData>
        </a:graphic>
      </p:graphicFrame>
      <p:sp>
        <p:nvSpPr>
          <p:cNvPr id="5" name="Shape 2"/>
          <p:cNvSpPr/>
          <p:nvPr/>
        </p:nvSpPr>
        <p:spPr>
          <a:xfrm>
            <a:off x="8686800" y="1481328"/>
            <a:ext cx="2816352" cy="3017520"/>
          </a:xfrm>
          <a:prstGeom prst="roundRect">
            <a:avLst>
              <a:gd name="adj" fmla="val 1948"/>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6" name="Text 3"/>
          <p:cNvSpPr/>
          <p:nvPr/>
        </p:nvSpPr>
        <p:spPr>
          <a:xfrm>
            <a:off x="8961120" y="1737360"/>
            <a:ext cx="2286000" cy="548640"/>
          </a:xfrm>
          <a:prstGeom prst="rect">
            <a:avLst/>
          </a:prstGeom>
          <a:noFill/>
          <a:ln/>
        </p:spPr>
        <p:txBody>
          <a:bodyPr wrap="square" lIns="0" tIns="0" rIns="0" bIns="0" rtlCol="0" anchor="ctr"/>
          <a:lstStyle/>
          <a:p>
            <a:pPr indent="0" marL="0">
              <a:buNone/>
            </a:pPr>
            <a:r>
              <a:rPr lang="en-US" sz="1000" b="1" spc="160" kern="0" dirty="0">
                <a:solidFill>
                  <a:srgbClr val="D03B3B"/>
                </a:solidFill>
                <a:latin typeface="Calibri" pitchFamily="34" charset="0"/>
                <a:ea typeface="Calibri" pitchFamily="34" charset="-122"/>
                <a:cs typeface="Calibri" pitchFamily="34" charset="-120"/>
              </a:rPr>
              <a:t>TRES COHORTES</a:t>
            </a:r>
            <a:endParaRPr lang="en-US" sz="1000" dirty="0"/>
          </a:p>
          <a:p>
            <a:pPr indent="0" marL="0">
              <a:buNone/>
            </a:pPr>
            <a:r>
              <a:rPr lang="en-US" sz="1000" b="1" spc="160" kern="0" dirty="0">
                <a:solidFill>
                  <a:srgbClr val="D03B3B"/>
                </a:solidFill>
                <a:latin typeface="Calibri" pitchFamily="34" charset="0"/>
                <a:ea typeface="Calibri" pitchFamily="34" charset="-122"/>
                <a:cs typeface="Calibri" pitchFamily="34" charset="-120"/>
              </a:rPr>
              <a:t>NO EVALUABLES</a:t>
            </a:r>
            <a:endParaRPr lang="en-US" sz="1000" dirty="0"/>
          </a:p>
        </p:txBody>
      </p:sp>
      <p:sp>
        <p:nvSpPr>
          <p:cNvPr id="7" name="Text 4"/>
          <p:cNvSpPr/>
          <p:nvPr/>
        </p:nvSpPr>
        <p:spPr>
          <a:xfrm>
            <a:off x="8961120" y="2395728"/>
            <a:ext cx="2286000" cy="2011680"/>
          </a:xfrm>
          <a:prstGeom prst="rect">
            <a:avLst/>
          </a:prstGeom>
          <a:noFill/>
          <a:ln/>
        </p:spPr>
        <p:txBody>
          <a:bodyPr wrap="square" lIns="0" tIns="0" rIns="0" bIns="0" rtlCol="0" anchor="ctr"/>
          <a:lstStyle/>
          <a:p>
            <a:pPr indent="0" marL="0">
              <a:lnSpc>
                <a:spcPct val="120000"/>
              </a:lnSpc>
              <a:buNone/>
            </a:pPr>
            <a:r>
              <a:rPr lang="en-US" sz="1050" dirty="0">
                <a:solidFill>
                  <a:srgbClr val="52514E"/>
                </a:solidFill>
                <a:latin typeface="Calibri" pitchFamily="34" charset="0"/>
                <a:ea typeface="Calibri" pitchFamily="34" charset="-122"/>
                <a:cs typeface="Calibri" pitchFamily="34" charset="-120"/>
              </a:rPr>
              <a:t>GSE30219, GSE50081 y GSE140797 no contienen controles sanos. En una cohorte de una sola clase, predecir siempre «tumor» alcanza accuracy 1,000 por definición.</a:t>
            </a:r>
            <a:endParaRPr lang="en-US" sz="1050" dirty="0"/>
          </a:p>
          <a:p>
            <a:pPr indent="0" marL="0">
              <a:lnSpc>
                <a:spcPct val="120000"/>
              </a:lnSpc>
              <a:buNone/>
            </a:pPr>
            <a:endParaRPr lang="en-US" sz="1050" dirty="0"/>
          </a:p>
          <a:p>
            <a:pPr indent="0" marL="0">
              <a:lnSpc>
                <a:spcPct val="120000"/>
              </a:lnSpc>
              <a:buNone/>
            </a:pPr>
            <a:r>
              <a:rPr lang="en-US" sz="1050" dirty="0">
                <a:solidFill>
                  <a:srgbClr val="52514E"/>
                </a:solidFill>
                <a:latin typeface="Calibri" pitchFamily="34" charset="0"/>
                <a:ea typeface="Calibri" pitchFamily="34" charset="-122"/>
                <a:cs typeface="Calibri" pitchFamily="34" charset="-120"/>
              </a:rPr>
              <a:t>Son estudios de supervivencia: su composición es correcta para su propósito. El error fue usarlas como conjunto de test.</a:t>
            </a:r>
            <a:endParaRPr lang="en-US" sz="1050" dirty="0"/>
          </a:p>
        </p:txBody>
      </p:sp>
      <p:sp>
        <p:nvSpPr>
          <p:cNvPr id="8" name="Text 5"/>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Tres cohortes declaradas en datasets.txt nunca llegaron a procesarse: GSE40419, GSE81089 y GSE140343 — las tres de RNA-seq.</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MÉTODO</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Cinco hipótesis, con su umbral fijado antes de ejecutar</a:t>
            </a:r>
            <a:endParaRPr lang="en-US" sz="2900" dirty="0"/>
          </a:p>
        </p:txBody>
      </p:sp>
      <p:sp>
        <p:nvSpPr>
          <p:cNvPr id="4" name="Text 2"/>
          <p:cNvSpPr/>
          <p:nvPr/>
        </p:nvSpPr>
        <p:spPr>
          <a:xfrm>
            <a:off x="658368" y="1810512"/>
            <a:ext cx="9692640" cy="658368"/>
          </a:xfrm>
          <a:prstGeom prst="rect">
            <a:avLst/>
          </a:prstGeom>
          <a:noFill/>
          <a:ln/>
        </p:spPr>
        <p:txBody>
          <a:bodyPr wrap="square" lIns="0" tIns="0" rIns="0" bIns="0" rtlCol="0" anchor="ctr"/>
          <a:lstStyle/>
          <a:p>
            <a:pPr indent="0" marL="0">
              <a:lnSpc>
                <a:spcPct val="126000"/>
              </a:lnSpc>
              <a:buNone/>
            </a:pPr>
            <a:r>
              <a:rPr lang="en-US" sz="1400" dirty="0">
                <a:solidFill>
                  <a:srgbClr val="C3C2B7"/>
                </a:solidFill>
                <a:latin typeface="Calibri" pitchFamily="34" charset="0"/>
                <a:ea typeface="Calibri" pitchFamily="34" charset="-122"/>
                <a:cs typeface="Calibri" pitchFamily="34" charset="-120"/>
              </a:rPr>
              <a:t>Cada análisis declaró de antemano qué resultado lo confirmaría y qué resultado lo refutaría. Ningún umbral se modificó después de ver los datos.</a:t>
            </a:r>
            <a:endParaRPr lang="en-US" sz="1400" dirty="0"/>
          </a:p>
        </p:txBody>
      </p:sp>
      <p:sp>
        <p:nvSpPr>
          <p:cNvPr id="5" name="Shape 3"/>
          <p:cNvSpPr/>
          <p:nvPr/>
        </p:nvSpPr>
        <p:spPr>
          <a:xfrm>
            <a:off x="658368" y="2743200"/>
            <a:ext cx="475488" cy="475488"/>
          </a:xfrm>
          <a:prstGeom prst="rect">
            <a:avLst/>
          </a:prstGeom>
          <a:solidFill>
            <a:srgbClr val="262A30"/>
          </a:solidFill>
          <a:ln w="7620">
            <a:solidFill>
              <a:srgbClr val="343941"/>
            </a:solidFill>
            <a:prstDash val="solid"/>
          </a:ln>
        </p:spPr>
      </p:sp>
      <p:sp>
        <p:nvSpPr>
          <p:cNvPr id="6" name="Text 4"/>
          <p:cNvSpPr/>
          <p:nvPr/>
        </p:nvSpPr>
        <p:spPr>
          <a:xfrm>
            <a:off x="658368" y="2743200"/>
            <a:ext cx="475488" cy="475488"/>
          </a:xfrm>
          <a:prstGeom prst="rect">
            <a:avLst/>
          </a:prstGeom>
          <a:noFill/>
          <a:ln/>
        </p:spPr>
        <p:txBody>
          <a:bodyPr wrap="square" lIns="0" tIns="0" rIns="0" bIns="0" rtlCol="0" anchor="ctr"/>
          <a:lstStyle/>
          <a:p>
            <a:pPr algn="ctr" indent="0" marL="0">
              <a:buNone/>
            </a:pPr>
            <a:r>
              <a:rPr lang="en-US" sz="1500" b="1" dirty="0">
                <a:solidFill>
                  <a:srgbClr val="898781"/>
                </a:solidFill>
                <a:latin typeface="Cambria" pitchFamily="34" charset="0"/>
                <a:ea typeface="Cambria" pitchFamily="34" charset="-122"/>
                <a:cs typeface="Cambria" pitchFamily="34" charset="-120"/>
              </a:rPr>
              <a:t>I</a:t>
            </a:r>
            <a:endParaRPr lang="en-US" sz="1500" dirty="0"/>
          </a:p>
        </p:txBody>
      </p:sp>
      <p:sp>
        <p:nvSpPr>
          <p:cNvPr id="7" name="Text 5"/>
          <p:cNvSpPr/>
          <p:nvPr/>
        </p:nvSpPr>
        <p:spPr>
          <a:xfrm>
            <a:off x="1371600" y="2798064"/>
            <a:ext cx="658368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Auditoría de integridad</a:t>
            </a:r>
            <a:endParaRPr lang="en-US" sz="1450" dirty="0"/>
          </a:p>
        </p:txBody>
      </p:sp>
      <p:sp>
        <p:nvSpPr>
          <p:cNvPr id="8" name="Text 6"/>
          <p:cNvSpPr/>
          <p:nvPr/>
        </p:nvSpPr>
        <p:spPr>
          <a:xfrm>
            <a:off x="8686800" y="2862072"/>
            <a:ext cx="1737360" cy="237744"/>
          </a:xfrm>
          <a:prstGeom prst="rect">
            <a:avLst/>
          </a:prstGeom>
          <a:noFill/>
          <a:ln/>
        </p:spPr>
        <p:txBody>
          <a:bodyPr wrap="square" lIns="0" tIns="0" rIns="0" bIns="0" rtlCol="0" anchor="ctr"/>
          <a:lstStyle/>
          <a:p>
            <a:pPr indent="0" marL="0">
              <a:buNone/>
            </a:pPr>
            <a:r>
              <a:rPr lang="en-US" sz="950" b="1" spc="140" kern="0" dirty="0">
                <a:solidFill>
                  <a:srgbClr val="898781"/>
                </a:solidFill>
                <a:latin typeface="Calibri" pitchFamily="34" charset="0"/>
                <a:ea typeface="Calibri" pitchFamily="34" charset="-122"/>
                <a:cs typeface="Calibri" pitchFamily="34" charset="-120"/>
              </a:rPr>
              <a:t>DESCRIPTIVO</a:t>
            </a:r>
            <a:endParaRPr lang="en-US" sz="950" dirty="0"/>
          </a:p>
        </p:txBody>
      </p:sp>
      <p:sp>
        <p:nvSpPr>
          <p:cNvPr id="9" name="Shape 7"/>
          <p:cNvSpPr/>
          <p:nvPr/>
        </p:nvSpPr>
        <p:spPr>
          <a:xfrm>
            <a:off x="658368" y="3465576"/>
            <a:ext cx="475488" cy="475488"/>
          </a:xfrm>
          <a:prstGeom prst="rect">
            <a:avLst/>
          </a:prstGeom>
          <a:solidFill>
            <a:srgbClr val="262A30"/>
          </a:solidFill>
          <a:ln w="7620">
            <a:solidFill>
              <a:srgbClr val="343941"/>
            </a:solidFill>
            <a:prstDash val="solid"/>
          </a:ln>
        </p:spPr>
      </p:sp>
      <p:sp>
        <p:nvSpPr>
          <p:cNvPr id="10" name="Text 8"/>
          <p:cNvSpPr/>
          <p:nvPr/>
        </p:nvSpPr>
        <p:spPr>
          <a:xfrm>
            <a:off x="658368" y="3465576"/>
            <a:ext cx="475488" cy="475488"/>
          </a:xfrm>
          <a:prstGeom prst="rect">
            <a:avLst/>
          </a:prstGeom>
          <a:noFill/>
          <a:ln/>
        </p:spPr>
        <p:txBody>
          <a:bodyPr wrap="square" lIns="0" tIns="0" rIns="0" bIns="0" rtlCol="0" anchor="ctr"/>
          <a:lstStyle/>
          <a:p>
            <a:pPr algn="ctr" indent="0" marL="0">
              <a:buNone/>
            </a:pPr>
            <a:r>
              <a:rPr lang="en-US" sz="1500" b="1" dirty="0">
                <a:solidFill>
                  <a:srgbClr val="2A78D6"/>
                </a:solidFill>
                <a:latin typeface="Cambria" pitchFamily="34" charset="0"/>
                <a:ea typeface="Cambria" pitchFamily="34" charset="-122"/>
                <a:cs typeface="Cambria" pitchFamily="34" charset="-120"/>
              </a:rPr>
              <a:t>II</a:t>
            </a:r>
            <a:endParaRPr lang="en-US" sz="1500" dirty="0"/>
          </a:p>
        </p:txBody>
      </p:sp>
      <p:sp>
        <p:nvSpPr>
          <p:cNvPr id="11" name="Text 9"/>
          <p:cNvSpPr/>
          <p:nvPr/>
        </p:nvSpPr>
        <p:spPr>
          <a:xfrm>
            <a:off x="1371600" y="3520440"/>
            <a:ext cx="658368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LODO con métricas completas</a:t>
            </a:r>
            <a:endParaRPr lang="en-US" sz="1450" dirty="0"/>
          </a:p>
        </p:txBody>
      </p:sp>
      <p:sp>
        <p:nvSpPr>
          <p:cNvPr id="12" name="Text 10"/>
          <p:cNvSpPr/>
          <p:nvPr/>
        </p:nvSpPr>
        <p:spPr>
          <a:xfrm>
            <a:off x="8686800" y="3584448"/>
            <a:ext cx="1737360" cy="237744"/>
          </a:xfrm>
          <a:prstGeom prst="rect">
            <a:avLst/>
          </a:prstGeom>
          <a:noFill/>
          <a:ln/>
        </p:spPr>
        <p:txBody>
          <a:bodyPr wrap="square" lIns="0" tIns="0" rIns="0" bIns="0" rtlCol="0" anchor="ctr"/>
          <a:lstStyle/>
          <a:p>
            <a:pPr indent="0" marL="0">
              <a:buNone/>
            </a:pPr>
            <a:r>
              <a:rPr lang="en-US" sz="950" b="1" spc="140" kern="0" dirty="0">
                <a:solidFill>
                  <a:srgbClr val="2A78D6"/>
                </a:solidFill>
                <a:latin typeface="Calibri" pitchFamily="34" charset="0"/>
                <a:ea typeface="Calibri" pitchFamily="34" charset="-122"/>
                <a:cs typeface="Calibri" pitchFamily="34" charset="-120"/>
              </a:rPr>
              <a:t>CONFIRMADA</a:t>
            </a:r>
            <a:endParaRPr lang="en-US" sz="950" dirty="0"/>
          </a:p>
        </p:txBody>
      </p:sp>
      <p:sp>
        <p:nvSpPr>
          <p:cNvPr id="13" name="Shape 11"/>
          <p:cNvSpPr/>
          <p:nvPr/>
        </p:nvSpPr>
        <p:spPr>
          <a:xfrm>
            <a:off x="658368" y="4187952"/>
            <a:ext cx="475488" cy="475488"/>
          </a:xfrm>
          <a:prstGeom prst="rect">
            <a:avLst/>
          </a:prstGeom>
          <a:solidFill>
            <a:srgbClr val="262A30"/>
          </a:solidFill>
          <a:ln w="7620">
            <a:solidFill>
              <a:srgbClr val="343941"/>
            </a:solidFill>
            <a:prstDash val="solid"/>
          </a:ln>
        </p:spPr>
      </p:sp>
      <p:sp>
        <p:nvSpPr>
          <p:cNvPr id="14" name="Text 12"/>
          <p:cNvSpPr/>
          <p:nvPr/>
        </p:nvSpPr>
        <p:spPr>
          <a:xfrm>
            <a:off x="658368" y="4187952"/>
            <a:ext cx="475488" cy="475488"/>
          </a:xfrm>
          <a:prstGeom prst="rect">
            <a:avLst/>
          </a:prstGeom>
          <a:noFill/>
          <a:ln/>
        </p:spPr>
        <p:txBody>
          <a:bodyPr wrap="square" lIns="0" tIns="0" rIns="0" bIns="0" rtlCol="0" anchor="ctr"/>
          <a:lstStyle/>
          <a:p>
            <a:pPr algn="ctr" indent="0" marL="0">
              <a:buNone/>
            </a:pPr>
            <a:r>
              <a:rPr lang="en-US" sz="1500" b="1" dirty="0">
                <a:solidFill>
                  <a:srgbClr val="D03B3B"/>
                </a:solidFill>
                <a:latin typeface="Cambria" pitchFamily="34" charset="0"/>
                <a:ea typeface="Cambria" pitchFamily="34" charset="-122"/>
                <a:cs typeface="Cambria" pitchFamily="34" charset="-120"/>
              </a:rPr>
              <a:t>III</a:t>
            </a:r>
            <a:endParaRPr lang="en-US" sz="1500" dirty="0"/>
          </a:p>
        </p:txBody>
      </p:sp>
      <p:sp>
        <p:nvSpPr>
          <p:cNvPr id="15" name="Text 13"/>
          <p:cNvSpPr/>
          <p:nvPr/>
        </p:nvSpPr>
        <p:spPr>
          <a:xfrm>
            <a:off x="1371600" y="4242816"/>
            <a:ext cx="658368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Composición tisular frente a biología</a:t>
            </a:r>
            <a:endParaRPr lang="en-US" sz="1450" dirty="0"/>
          </a:p>
        </p:txBody>
      </p:sp>
      <p:sp>
        <p:nvSpPr>
          <p:cNvPr id="16" name="Text 14"/>
          <p:cNvSpPr/>
          <p:nvPr/>
        </p:nvSpPr>
        <p:spPr>
          <a:xfrm>
            <a:off x="8686800" y="4306824"/>
            <a:ext cx="1737360" cy="237744"/>
          </a:xfrm>
          <a:prstGeom prst="rect">
            <a:avLst/>
          </a:prstGeom>
          <a:noFill/>
          <a:ln/>
        </p:spPr>
        <p:txBody>
          <a:bodyPr wrap="square" lIns="0" tIns="0" rIns="0" bIns="0" rtlCol="0" anchor="ctr"/>
          <a:lstStyle/>
          <a:p>
            <a:pPr indent="0" marL="0">
              <a:buNone/>
            </a:pPr>
            <a:r>
              <a:rPr lang="en-US" sz="950" b="1" spc="140" kern="0" dirty="0">
                <a:solidFill>
                  <a:srgbClr val="D03B3B"/>
                </a:solidFill>
                <a:latin typeface="Calibri" pitchFamily="34" charset="0"/>
                <a:ea typeface="Calibri" pitchFamily="34" charset="-122"/>
                <a:cs typeface="Calibri" pitchFamily="34" charset="-120"/>
              </a:rPr>
              <a:t>NO CONFIRMADA</a:t>
            </a:r>
            <a:endParaRPr lang="en-US" sz="950" dirty="0"/>
          </a:p>
        </p:txBody>
      </p:sp>
      <p:sp>
        <p:nvSpPr>
          <p:cNvPr id="17" name="Shape 15"/>
          <p:cNvSpPr/>
          <p:nvPr/>
        </p:nvSpPr>
        <p:spPr>
          <a:xfrm>
            <a:off x="658368" y="4910328"/>
            <a:ext cx="475488" cy="475488"/>
          </a:xfrm>
          <a:prstGeom prst="rect">
            <a:avLst/>
          </a:prstGeom>
          <a:solidFill>
            <a:srgbClr val="262A30"/>
          </a:solidFill>
          <a:ln w="7620">
            <a:solidFill>
              <a:srgbClr val="343941"/>
            </a:solidFill>
            <a:prstDash val="solid"/>
          </a:ln>
        </p:spPr>
      </p:sp>
      <p:sp>
        <p:nvSpPr>
          <p:cNvPr id="18" name="Text 16"/>
          <p:cNvSpPr/>
          <p:nvPr/>
        </p:nvSpPr>
        <p:spPr>
          <a:xfrm>
            <a:off x="658368" y="4910328"/>
            <a:ext cx="475488" cy="475488"/>
          </a:xfrm>
          <a:prstGeom prst="rect">
            <a:avLst/>
          </a:prstGeom>
          <a:noFill/>
          <a:ln/>
        </p:spPr>
        <p:txBody>
          <a:bodyPr wrap="square" lIns="0" tIns="0" rIns="0" bIns="0" rtlCol="0" anchor="ctr"/>
          <a:lstStyle/>
          <a:p>
            <a:pPr algn="ctr" indent="0" marL="0">
              <a:buNone/>
            </a:pPr>
            <a:r>
              <a:rPr lang="en-US" sz="1500" b="1" dirty="0">
                <a:solidFill>
                  <a:srgbClr val="2A78D6"/>
                </a:solidFill>
                <a:latin typeface="Cambria" pitchFamily="34" charset="0"/>
                <a:ea typeface="Cambria" pitchFamily="34" charset="-122"/>
                <a:cs typeface="Cambria" pitchFamily="34" charset="-120"/>
              </a:rPr>
              <a:t>IV</a:t>
            </a:r>
            <a:endParaRPr lang="en-US" sz="1500" dirty="0"/>
          </a:p>
        </p:txBody>
      </p:sp>
      <p:sp>
        <p:nvSpPr>
          <p:cNvPr id="19" name="Text 17"/>
          <p:cNvSpPr/>
          <p:nvPr/>
        </p:nvSpPr>
        <p:spPr>
          <a:xfrm>
            <a:off x="1371600" y="4965192"/>
            <a:ext cx="658368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Validez de la consistencia de signo</a:t>
            </a:r>
            <a:endParaRPr lang="en-US" sz="1450" dirty="0"/>
          </a:p>
        </p:txBody>
      </p:sp>
      <p:sp>
        <p:nvSpPr>
          <p:cNvPr id="20" name="Text 18"/>
          <p:cNvSpPr/>
          <p:nvPr/>
        </p:nvSpPr>
        <p:spPr>
          <a:xfrm>
            <a:off x="8686800" y="5029200"/>
            <a:ext cx="1737360" cy="237744"/>
          </a:xfrm>
          <a:prstGeom prst="rect">
            <a:avLst/>
          </a:prstGeom>
          <a:noFill/>
          <a:ln/>
        </p:spPr>
        <p:txBody>
          <a:bodyPr wrap="square" lIns="0" tIns="0" rIns="0" bIns="0" rtlCol="0" anchor="ctr"/>
          <a:lstStyle/>
          <a:p>
            <a:pPr indent="0" marL="0">
              <a:buNone/>
            </a:pPr>
            <a:r>
              <a:rPr lang="en-US" sz="950" b="1" spc="140" kern="0" dirty="0">
                <a:solidFill>
                  <a:srgbClr val="2A78D6"/>
                </a:solidFill>
                <a:latin typeface="Calibri" pitchFamily="34" charset="0"/>
                <a:ea typeface="Calibri" pitchFamily="34" charset="-122"/>
                <a:cs typeface="Calibri" pitchFamily="34" charset="-120"/>
              </a:rPr>
              <a:t>CONFIRMADA</a:t>
            </a:r>
            <a:endParaRPr lang="en-US" sz="950" dirty="0"/>
          </a:p>
        </p:txBody>
      </p:sp>
      <p:sp>
        <p:nvSpPr>
          <p:cNvPr id="21" name="Shape 19"/>
          <p:cNvSpPr/>
          <p:nvPr/>
        </p:nvSpPr>
        <p:spPr>
          <a:xfrm>
            <a:off x="658368" y="5632704"/>
            <a:ext cx="475488" cy="475488"/>
          </a:xfrm>
          <a:prstGeom prst="rect">
            <a:avLst/>
          </a:prstGeom>
          <a:solidFill>
            <a:srgbClr val="262A30"/>
          </a:solidFill>
          <a:ln w="7620">
            <a:solidFill>
              <a:srgbClr val="343941"/>
            </a:solidFill>
            <a:prstDash val="solid"/>
          </a:ln>
        </p:spPr>
      </p:sp>
      <p:sp>
        <p:nvSpPr>
          <p:cNvPr id="22" name="Text 20"/>
          <p:cNvSpPr/>
          <p:nvPr/>
        </p:nvSpPr>
        <p:spPr>
          <a:xfrm>
            <a:off x="658368" y="5632704"/>
            <a:ext cx="475488" cy="475488"/>
          </a:xfrm>
          <a:prstGeom prst="rect">
            <a:avLst/>
          </a:prstGeom>
          <a:noFill/>
          <a:ln/>
        </p:spPr>
        <p:txBody>
          <a:bodyPr wrap="square" lIns="0" tIns="0" rIns="0" bIns="0" rtlCol="0" anchor="ctr"/>
          <a:lstStyle/>
          <a:p>
            <a:pPr algn="ctr" indent="0" marL="0">
              <a:buNone/>
            </a:pPr>
            <a:r>
              <a:rPr lang="en-US" sz="1500" b="1" dirty="0">
                <a:solidFill>
                  <a:srgbClr val="D03B3B"/>
                </a:solidFill>
                <a:latin typeface="Cambria" pitchFamily="34" charset="0"/>
                <a:ea typeface="Cambria" pitchFamily="34" charset="-122"/>
                <a:cs typeface="Cambria" pitchFamily="34" charset="-120"/>
              </a:rPr>
              <a:t>V</a:t>
            </a:r>
            <a:endParaRPr lang="en-US" sz="1500" dirty="0"/>
          </a:p>
        </p:txBody>
      </p:sp>
      <p:sp>
        <p:nvSpPr>
          <p:cNvPr id="23" name="Text 21"/>
          <p:cNvSpPr/>
          <p:nvPr/>
        </p:nvSpPr>
        <p:spPr>
          <a:xfrm>
            <a:off x="1371600" y="5687568"/>
            <a:ext cx="658368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Límites del clasificador de subtipo</a:t>
            </a:r>
            <a:endParaRPr lang="en-US" sz="1450" dirty="0"/>
          </a:p>
        </p:txBody>
      </p:sp>
      <p:sp>
        <p:nvSpPr>
          <p:cNvPr id="24" name="Text 22"/>
          <p:cNvSpPr/>
          <p:nvPr/>
        </p:nvSpPr>
        <p:spPr>
          <a:xfrm>
            <a:off x="8686800" y="5751576"/>
            <a:ext cx="1737360" cy="237744"/>
          </a:xfrm>
          <a:prstGeom prst="rect">
            <a:avLst/>
          </a:prstGeom>
          <a:noFill/>
          <a:ln/>
        </p:spPr>
        <p:txBody>
          <a:bodyPr wrap="square" lIns="0" tIns="0" rIns="0" bIns="0" rtlCol="0" anchor="ctr"/>
          <a:lstStyle/>
          <a:p>
            <a:pPr indent="0" marL="0">
              <a:buNone/>
            </a:pPr>
            <a:r>
              <a:rPr lang="en-US" sz="950" b="1" spc="140" kern="0" dirty="0">
                <a:solidFill>
                  <a:srgbClr val="D03B3B"/>
                </a:solidFill>
                <a:latin typeface="Calibri" pitchFamily="34" charset="0"/>
                <a:ea typeface="Calibri" pitchFamily="34" charset="-122"/>
                <a:cs typeface="Calibri" pitchFamily="34" charset="-120"/>
              </a:rPr>
              <a:t>NO CONFIRMADA</a:t>
            </a:r>
            <a:endParaRPr lang="en-US" sz="950" dirty="0"/>
          </a:p>
        </p:txBody>
      </p:sp>
      <p:sp>
        <p:nvSpPr>
          <p:cNvPr id="25" name="Text 23"/>
          <p:cNvSpPr/>
          <p:nvPr/>
        </p:nvSpPr>
        <p:spPr>
          <a:xfrm>
            <a:off x="658368" y="6071616"/>
            <a:ext cx="10881360" cy="457200"/>
          </a:xfrm>
          <a:prstGeom prst="rect">
            <a:avLst/>
          </a:prstGeom>
          <a:noFill/>
          <a:ln/>
        </p:spPr>
        <p:txBody>
          <a:bodyPr wrap="square" lIns="0" tIns="0" rIns="0" bIns="0" rtlCol="0" anchor="ctr"/>
          <a:lstStyle/>
          <a:p>
            <a:pPr indent="0" marL="0">
              <a:buNone/>
            </a:pPr>
            <a:r>
              <a:rPr lang="en-US" sz="1400" i="1" dirty="0">
                <a:solidFill>
                  <a:srgbClr val="C3C2B7"/>
                </a:solidFill>
                <a:latin typeface="Cambria" pitchFamily="34" charset="0"/>
                <a:ea typeface="Cambria" pitchFamily="34" charset="-122"/>
                <a:cs typeface="Cambria" pitchFamily="34" charset="-120"/>
              </a:rPr>
              <a:t>Dos de las cinco no se confirmaron. Se reportan como resultaron: mantener el criterio es parte del resultado.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I  ·  AUDITORÍA DE INTEGRIDAD</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Cuatro modos de fallo. Ninguno interrumpió la ejecución</a:t>
            </a:r>
            <a:endParaRPr lang="en-US" sz="3200" dirty="0"/>
          </a:p>
        </p:txBody>
      </p:sp>
      <p:sp>
        <p:nvSpPr>
          <p:cNvPr id="4" name="Shape 2"/>
          <p:cNvSpPr/>
          <p:nvPr/>
        </p:nvSpPr>
        <p:spPr>
          <a:xfrm>
            <a:off x="658368" y="1828800"/>
            <a:ext cx="2596896" cy="3712464"/>
          </a:xfrm>
          <a:prstGeom prst="roundRect">
            <a:avLst>
              <a:gd name="adj" fmla="val 2113"/>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5" name="Text 3"/>
          <p:cNvSpPr/>
          <p:nvPr/>
        </p:nvSpPr>
        <p:spPr>
          <a:xfrm>
            <a:off x="914400" y="2048256"/>
            <a:ext cx="2103120" cy="658368"/>
          </a:xfrm>
          <a:prstGeom prst="rect">
            <a:avLst/>
          </a:prstGeom>
          <a:noFill/>
          <a:ln/>
        </p:spPr>
        <p:txBody>
          <a:bodyPr wrap="square" lIns="0" tIns="0" rIns="0" bIns="0" rtlCol="0" anchor="t"/>
          <a:lstStyle/>
          <a:p>
            <a:pPr indent="0" marL="0">
              <a:buNone/>
            </a:pPr>
            <a:r>
              <a:rPr lang="en-US" sz="4200" b="1" dirty="0">
                <a:solidFill>
                  <a:srgbClr val="898781"/>
                </a:solidFill>
                <a:latin typeface="Cambria" pitchFamily="34" charset="0"/>
                <a:ea typeface="Cambria" pitchFamily="34" charset="-122"/>
                <a:cs typeface="Cambria" pitchFamily="34" charset="-120"/>
              </a:rPr>
              <a:t>3</a:t>
            </a:r>
            <a:endParaRPr lang="en-US" sz="4200" dirty="0"/>
          </a:p>
        </p:txBody>
      </p:sp>
      <p:sp>
        <p:nvSpPr>
          <p:cNvPr id="6" name="Text 4"/>
          <p:cNvSpPr/>
          <p:nvPr/>
        </p:nvSpPr>
        <p:spPr>
          <a:xfrm>
            <a:off x="914400" y="2761488"/>
            <a:ext cx="2103120" cy="603504"/>
          </a:xfrm>
          <a:prstGeom prst="rect">
            <a:avLst/>
          </a:prstGeom>
          <a:noFill/>
          <a:ln/>
        </p:spPr>
        <p:txBody>
          <a:bodyPr wrap="square" lIns="0" tIns="0" rIns="0" bIns="0" rtlCol="0" anchor="t"/>
          <a:lstStyle/>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cohortes declaradas</a:t>
            </a:r>
            <a:endParaRPr lang="en-US" sz="1150" dirty="0"/>
          </a:p>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sin procesar</a:t>
            </a:r>
            <a:endParaRPr lang="en-US" sz="1150" dirty="0"/>
          </a:p>
        </p:txBody>
      </p:sp>
      <p:sp>
        <p:nvSpPr>
          <p:cNvPr id="7" name="Text 5"/>
          <p:cNvSpPr/>
          <p:nvPr/>
        </p:nvSpPr>
        <p:spPr>
          <a:xfrm>
            <a:off x="914400" y="3493008"/>
            <a:ext cx="2103120" cy="1828800"/>
          </a:xfrm>
          <a:prstGeom prst="rect">
            <a:avLst/>
          </a:prstGeom>
          <a:noFill/>
          <a:ln/>
        </p:spPr>
        <p:txBody>
          <a:bodyPr wrap="square" lIns="0" tIns="0" rIns="0" bIns="0" rtlCol="0" anchor="t"/>
          <a:lstStyle/>
          <a:p>
            <a:pPr indent="0" marL="0">
              <a:lnSpc>
                <a:spcPct val="120000"/>
              </a:lnSpc>
              <a:buNone/>
            </a:pPr>
            <a:r>
              <a:rPr lang="en-US" sz="1050" dirty="0">
                <a:solidFill>
                  <a:srgbClr val="52514E"/>
                </a:solidFill>
                <a:latin typeface="Calibri" pitchFamily="34" charset="0"/>
                <a:ea typeface="Calibri" pitchFamily="34" charset="-122"/>
                <a:cs typeface="Calibri" pitchFamily="34" charset="-120"/>
              </a:rPr>
              <a:t>Las tres de RNA-seq desaparecieron del pipeline sin aviso. La cohorte analizada no coincide con la declarada.</a:t>
            </a:r>
            <a:endParaRPr lang="en-US" sz="1050" dirty="0"/>
          </a:p>
        </p:txBody>
      </p:sp>
      <p:sp>
        <p:nvSpPr>
          <p:cNvPr id="8" name="Shape 6"/>
          <p:cNvSpPr/>
          <p:nvPr/>
        </p:nvSpPr>
        <p:spPr>
          <a:xfrm>
            <a:off x="3456432" y="1828800"/>
            <a:ext cx="2596896" cy="3712464"/>
          </a:xfrm>
          <a:prstGeom prst="roundRect">
            <a:avLst>
              <a:gd name="adj" fmla="val 2113"/>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9" name="Text 7"/>
          <p:cNvSpPr/>
          <p:nvPr/>
        </p:nvSpPr>
        <p:spPr>
          <a:xfrm>
            <a:off x="3712464" y="2048256"/>
            <a:ext cx="2103120" cy="658368"/>
          </a:xfrm>
          <a:prstGeom prst="rect">
            <a:avLst/>
          </a:prstGeom>
          <a:noFill/>
          <a:ln/>
        </p:spPr>
        <p:txBody>
          <a:bodyPr wrap="square" lIns="0" tIns="0" rIns="0" bIns="0" rtlCol="0" anchor="t"/>
          <a:lstStyle/>
          <a:p>
            <a:pPr indent="0" marL="0">
              <a:buNone/>
            </a:pPr>
            <a:r>
              <a:rPr lang="en-US" sz="4200" b="1" dirty="0">
                <a:solidFill>
                  <a:srgbClr val="D03B3B"/>
                </a:solidFill>
                <a:latin typeface="Cambria" pitchFamily="34" charset="0"/>
                <a:ea typeface="Cambria" pitchFamily="34" charset="-122"/>
                <a:cs typeface="Cambria" pitchFamily="34" charset="-120"/>
              </a:rPr>
              <a:t>307</a:t>
            </a:r>
            <a:endParaRPr lang="en-US" sz="4200" dirty="0"/>
          </a:p>
        </p:txBody>
      </p:sp>
      <p:sp>
        <p:nvSpPr>
          <p:cNvPr id="10" name="Text 8"/>
          <p:cNvSpPr/>
          <p:nvPr/>
        </p:nvSpPr>
        <p:spPr>
          <a:xfrm>
            <a:off x="3712464" y="2761488"/>
            <a:ext cx="2103120" cy="603504"/>
          </a:xfrm>
          <a:prstGeom prst="rect">
            <a:avLst/>
          </a:prstGeom>
          <a:noFill/>
          <a:ln/>
        </p:spPr>
        <p:txBody>
          <a:bodyPr wrap="square" lIns="0" tIns="0" rIns="0" bIns="0" rtlCol="0" anchor="t"/>
          <a:lstStyle/>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muestras con la etiqueta</a:t>
            </a:r>
            <a:endParaRPr lang="en-US" sz="1150" dirty="0"/>
          </a:p>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de otro paciente</a:t>
            </a:r>
            <a:endParaRPr lang="en-US" sz="1150" dirty="0"/>
          </a:p>
        </p:txBody>
      </p:sp>
      <p:sp>
        <p:nvSpPr>
          <p:cNvPr id="11" name="Text 9"/>
          <p:cNvSpPr/>
          <p:nvPr/>
        </p:nvSpPr>
        <p:spPr>
          <a:xfrm>
            <a:off x="3712464" y="3493008"/>
            <a:ext cx="2103120" cy="1828800"/>
          </a:xfrm>
          <a:prstGeom prst="rect">
            <a:avLst/>
          </a:prstGeom>
          <a:noFill/>
          <a:ln/>
        </p:spPr>
        <p:txBody>
          <a:bodyPr wrap="square" lIns="0" tIns="0" rIns="0" bIns="0" rtlCol="0" anchor="t"/>
          <a:lstStyle/>
          <a:p>
            <a:pPr indent="0" marL="0">
              <a:lnSpc>
                <a:spcPct val="120000"/>
              </a:lnSpc>
              <a:buNone/>
            </a:pPr>
            <a:r>
              <a:rPr lang="en-US" sz="1050" dirty="0">
                <a:solidFill>
                  <a:srgbClr val="52514E"/>
                </a:solidFill>
                <a:latin typeface="Calibri" pitchFamily="34" charset="0"/>
                <a:ea typeface="Calibri" pitchFamily="34" charset="-122"/>
                <a:cs typeface="Calibri" pitchFamily="34" charset="-120"/>
              </a:rPr>
              <a:t>En GSE30219 las columnas de la matriz están en otro orden que las filas del metadata. Asignar por posición cruza los datos clínicos.</a:t>
            </a:r>
            <a:endParaRPr lang="en-US" sz="1050" dirty="0"/>
          </a:p>
        </p:txBody>
      </p:sp>
      <p:sp>
        <p:nvSpPr>
          <p:cNvPr id="12" name="Shape 10"/>
          <p:cNvSpPr/>
          <p:nvPr/>
        </p:nvSpPr>
        <p:spPr>
          <a:xfrm>
            <a:off x="6254496" y="1828800"/>
            <a:ext cx="2596896" cy="3712464"/>
          </a:xfrm>
          <a:prstGeom prst="roundRect">
            <a:avLst>
              <a:gd name="adj" fmla="val 2113"/>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3" name="Text 11"/>
          <p:cNvSpPr/>
          <p:nvPr/>
        </p:nvSpPr>
        <p:spPr>
          <a:xfrm>
            <a:off x="6510528" y="2048256"/>
            <a:ext cx="2103120" cy="658368"/>
          </a:xfrm>
          <a:prstGeom prst="rect">
            <a:avLst/>
          </a:prstGeom>
          <a:noFill/>
          <a:ln/>
        </p:spPr>
        <p:txBody>
          <a:bodyPr wrap="square" lIns="0" tIns="0" rIns="0" bIns="0" rtlCol="0" anchor="t"/>
          <a:lstStyle/>
          <a:p>
            <a:pPr indent="0" marL="0">
              <a:buNone/>
            </a:pPr>
            <a:r>
              <a:rPr lang="en-US" sz="4200" b="1" dirty="0">
                <a:solidFill>
                  <a:srgbClr val="EB6834"/>
                </a:solidFill>
                <a:latin typeface="Cambria" pitchFamily="34" charset="0"/>
                <a:ea typeface="Cambria" pitchFamily="34" charset="-122"/>
                <a:cs typeface="Cambria" pitchFamily="34" charset="-120"/>
              </a:rPr>
              <a:t>240</a:t>
            </a:r>
            <a:endParaRPr lang="en-US" sz="4200" dirty="0"/>
          </a:p>
        </p:txBody>
      </p:sp>
      <p:sp>
        <p:nvSpPr>
          <p:cNvPr id="14" name="Text 12"/>
          <p:cNvSpPr/>
          <p:nvPr/>
        </p:nvSpPr>
        <p:spPr>
          <a:xfrm>
            <a:off x="6510528" y="2761488"/>
            <a:ext cx="2103120" cy="603504"/>
          </a:xfrm>
          <a:prstGeom prst="rect">
            <a:avLst/>
          </a:prstGeom>
          <a:noFill/>
          <a:ln/>
        </p:spPr>
        <p:txBody>
          <a:bodyPr wrap="square" lIns="0" tIns="0" rIns="0" bIns="0" rtlCol="0" anchor="t"/>
          <a:lstStyle/>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muestras perdidas en la</a:t>
            </a:r>
            <a:endParaRPr lang="en-US" sz="1150" dirty="0"/>
          </a:p>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curación automatizada</a:t>
            </a:r>
            <a:endParaRPr lang="en-US" sz="1150" dirty="0"/>
          </a:p>
        </p:txBody>
      </p:sp>
      <p:sp>
        <p:nvSpPr>
          <p:cNvPr id="15" name="Text 13"/>
          <p:cNvSpPr/>
          <p:nvPr/>
        </p:nvSpPr>
        <p:spPr>
          <a:xfrm>
            <a:off x="6510528" y="3493008"/>
            <a:ext cx="2103120" cy="1828800"/>
          </a:xfrm>
          <a:prstGeom prst="rect">
            <a:avLst/>
          </a:prstGeom>
          <a:noFill/>
          <a:ln/>
        </p:spPr>
        <p:txBody>
          <a:bodyPr wrap="square" lIns="0" tIns="0" rIns="0" bIns="0" rtlCol="0" anchor="t"/>
          <a:lstStyle/>
          <a:p>
            <a:pPr indent="0" marL="0">
              <a:lnSpc>
                <a:spcPct val="120000"/>
              </a:lnSpc>
              <a:buNone/>
            </a:pPr>
            <a:r>
              <a:rPr lang="en-US" sz="1050" dirty="0">
                <a:solidFill>
                  <a:srgbClr val="52514E"/>
                </a:solidFill>
                <a:latin typeface="Calibri" pitchFamily="34" charset="0"/>
                <a:ea typeface="Calibri" pitchFamily="34" charset="-122"/>
                <a:cs typeface="Calibri" pitchFamily="34" charset="-120"/>
              </a:rPr>
              <a:t>El 17,2 % del total. El fallo es bimodal: éxito casi completo en 8 cohortes, colapso en 2 (GSE40791: 182 de 194).</a:t>
            </a:r>
            <a:endParaRPr lang="en-US" sz="1050" dirty="0"/>
          </a:p>
        </p:txBody>
      </p:sp>
      <p:sp>
        <p:nvSpPr>
          <p:cNvPr id="16" name="Shape 14"/>
          <p:cNvSpPr/>
          <p:nvPr/>
        </p:nvSpPr>
        <p:spPr>
          <a:xfrm>
            <a:off x="9052560" y="1828800"/>
            <a:ext cx="2596896" cy="3712464"/>
          </a:xfrm>
          <a:prstGeom prst="roundRect">
            <a:avLst>
              <a:gd name="adj" fmla="val 2113"/>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7" name="Text 15"/>
          <p:cNvSpPr/>
          <p:nvPr/>
        </p:nvSpPr>
        <p:spPr>
          <a:xfrm>
            <a:off x="9308592" y="2048256"/>
            <a:ext cx="2103120" cy="658368"/>
          </a:xfrm>
          <a:prstGeom prst="rect">
            <a:avLst/>
          </a:prstGeom>
          <a:noFill/>
          <a:ln/>
        </p:spPr>
        <p:txBody>
          <a:bodyPr wrap="square" lIns="0" tIns="0" rIns="0" bIns="0" rtlCol="0" anchor="t"/>
          <a:lstStyle/>
          <a:p>
            <a:pPr indent="0" marL="0">
              <a:buNone/>
            </a:pPr>
            <a:r>
              <a:rPr lang="en-US" sz="4200" b="1" dirty="0">
                <a:solidFill>
                  <a:srgbClr val="D03B3B"/>
                </a:solidFill>
                <a:latin typeface="Cambria" pitchFamily="34" charset="0"/>
                <a:ea typeface="Cambria" pitchFamily="34" charset="-122"/>
                <a:cs typeface="Cambria" pitchFamily="34" charset="-120"/>
              </a:rPr>
              <a:t>3</a:t>
            </a:r>
            <a:endParaRPr lang="en-US" sz="4200" dirty="0"/>
          </a:p>
        </p:txBody>
      </p:sp>
      <p:sp>
        <p:nvSpPr>
          <p:cNvPr id="18" name="Text 16"/>
          <p:cNvSpPr/>
          <p:nvPr/>
        </p:nvSpPr>
        <p:spPr>
          <a:xfrm>
            <a:off x="9308592" y="2761488"/>
            <a:ext cx="2103120" cy="603504"/>
          </a:xfrm>
          <a:prstGeom prst="rect">
            <a:avLst/>
          </a:prstGeom>
          <a:noFill/>
          <a:ln/>
        </p:spPr>
        <p:txBody>
          <a:bodyPr wrap="square" lIns="0" tIns="0" rIns="0" bIns="0" rtlCol="0" anchor="t"/>
          <a:lstStyle/>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cohortes de una sola clase</a:t>
            </a:r>
            <a:endParaRPr lang="en-US" sz="1150" dirty="0"/>
          </a:p>
          <a:p>
            <a:pPr indent="0" marL="0">
              <a:lnSpc>
                <a:spcPct val="114000"/>
              </a:lnSpc>
              <a:buNone/>
            </a:pPr>
            <a:r>
              <a:rPr lang="en-US" sz="1150" b="1" dirty="0">
                <a:solidFill>
                  <a:srgbClr val="1A1D21"/>
                </a:solidFill>
                <a:latin typeface="Calibri" pitchFamily="34" charset="0"/>
                <a:ea typeface="Calibri" pitchFamily="34" charset="-122"/>
                <a:cs typeface="Calibri" pitchFamily="34" charset="-120"/>
              </a:rPr>
              <a:t>usadas como test</a:t>
            </a:r>
            <a:endParaRPr lang="en-US" sz="1150" dirty="0"/>
          </a:p>
        </p:txBody>
      </p:sp>
      <p:sp>
        <p:nvSpPr>
          <p:cNvPr id="19" name="Text 17"/>
          <p:cNvSpPr/>
          <p:nvPr/>
        </p:nvSpPr>
        <p:spPr>
          <a:xfrm>
            <a:off x="9308592" y="3493008"/>
            <a:ext cx="2103120" cy="1828800"/>
          </a:xfrm>
          <a:prstGeom prst="rect">
            <a:avLst/>
          </a:prstGeom>
          <a:noFill/>
          <a:ln/>
        </p:spPr>
        <p:txBody>
          <a:bodyPr wrap="square" lIns="0" tIns="0" rIns="0" bIns="0" rtlCol="0" anchor="t"/>
          <a:lstStyle/>
          <a:p>
            <a:pPr indent="0" marL="0">
              <a:lnSpc>
                <a:spcPct val="120000"/>
              </a:lnSpc>
              <a:buNone/>
            </a:pPr>
            <a:r>
              <a:rPr lang="en-US" sz="1050" dirty="0">
                <a:solidFill>
                  <a:srgbClr val="52514E"/>
                </a:solidFill>
                <a:latin typeface="Calibri" pitchFamily="34" charset="0"/>
                <a:ea typeface="Calibri" pitchFamily="34" charset="-122"/>
                <a:cs typeface="Calibri" pitchFamily="34" charset="-120"/>
              </a:rPr>
              <a:t>Producen los valores más altos de la tabla y no miden nada: la accuracy trivial es 1,000 por definición.</a:t>
            </a:r>
            <a:endParaRPr lang="en-US" sz="1050" dirty="0"/>
          </a:p>
        </p:txBody>
      </p:sp>
      <p:sp>
        <p:nvSpPr>
          <p:cNvPr id="20" name="Text 18"/>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El pipeline terminó en los cuatro casos, escribió sus ficheros y produjo tablas de aspecto correcto.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I  ·  EL FALLO INDISTINGUIBLE</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307 muestras con la etiqueta clínica de otro paciente</a:t>
            </a:r>
            <a:endParaRPr lang="en-US" sz="3200" dirty="0"/>
          </a:p>
        </p:txBody>
      </p:sp>
      <p:sp>
        <p:nvSpPr>
          <p:cNvPr id="4" name="Text 2"/>
          <p:cNvSpPr/>
          <p:nvPr/>
        </p:nvSpPr>
        <p:spPr>
          <a:xfrm>
            <a:off x="658368" y="1783080"/>
            <a:ext cx="6126480" cy="1371600"/>
          </a:xfrm>
          <a:prstGeom prst="rect">
            <a:avLst/>
          </a:prstGeom>
          <a:noFill/>
          <a:ln/>
        </p:spPr>
        <p:txBody>
          <a:bodyPr wrap="square" lIns="0" tIns="0" rIns="0" bIns="0" rtlCol="0" anchor="ctr"/>
          <a:lstStyle/>
          <a:p>
            <a:pPr indent="0" marL="0">
              <a:lnSpc>
                <a:spcPct val="130000"/>
              </a:lnSpc>
              <a:buNone/>
            </a:pPr>
            <a:r>
              <a:rPr lang="en-US" sz="1350" dirty="0">
                <a:solidFill>
                  <a:srgbClr val="52514E"/>
                </a:solidFill>
                <a:latin typeface="Calibri" pitchFamily="34" charset="0"/>
                <a:ea typeface="Calibri" pitchFamily="34" charset="-122"/>
                <a:cs typeface="Calibri" pitchFamily="34" charset="-120"/>
              </a:rPr>
              <a:t>En GSE30219 las 307 columnas de la matriz de expresión están ordenadas de forma distinta a las filas del fichero de metadatos, aunque contengan las mismas muestras. Asignar las etiquetas por posición —operación habitual cuando las longitudes coinciden— adjudica a cada muestra la información clínica de otro paciente.</a:t>
            </a:r>
            <a:endParaRPr lang="en-US" sz="1350" dirty="0"/>
          </a:p>
        </p:txBody>
      </p:sp>
      <p:sp>
        <p:nvSpPr>
          <p:cNvPr id="5" name="Shape 3"/>
          <p:cNvSpPr/>
          <p:nvPr/>
        </p:nvSpPr>
        <p:spPr>
          <a:xfrm>
            <a:off x="658368" y="3310128"/>
            <a:ext cx="6126480" cy="1883664"/>
          </a:xfrm>
          <a:prstGeom prst="roundRect">
            <a:avLst>
              <a:gd name="adj" fmla="val 2913"/>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6" name="Text 4"/>
          <p:cNvSpPr/>
          <p:nvPr/>
        </p:nvSpPr>
        <p:spPr>
          <a:xfrm>
            <a:off x="969264" y="3547872"/>
            <a:ext cx="5486400" cy="256032"/>
          </a:xfrm>
          <a:prstGeom prst="rect">
            <a:avLst/>
          </a:prstGeom>
          <a:noFill/>
          <a:ln/>
        </p:spPr>
        <p:txBody>
          <a:bodyPr wrap="square" lIns="0" tIns="0" rIns="0" bIns="0" rtlCol="0" anchor="ctr"/>
          <a:lstStyle/>
          <a:p>
            <a:pPr indent="0" marL="0">
              <a:buNone/>
            </a:pPr>
            <a:r>
              <a:rPr lang="en-US" sz="950" b="1" spc="150" kern="0" dirty="0">
                <a:solidFill>
                  <a:srgbClr val="898781"/>
                </a:solidFill>
                <a:latin typeface="Calibri" pitchFamily="34" charset="0"/>
                <a:ea typeface="Calibri" pitchFamily="34" charset="-122"/>
                <a:cs typeface="Calibri" pitchFamily="34" charset="-120"/>
              </a:rPr>
              <a:t>MISMO MODELO, MISMOS DATOS, ALINEAMIENTO CORREGIDO</a:t>
            </a:r>
            <a:endParaRPr lang="en-US" sz="950" dirty="0"/>
          </a:p>
        </p:txBody>
      </p:sp>
      <p:sp>
        <p:nvSpPr>
          <p:cNvPr id="7" name="Text 5"/>
          <p:cNvSpPr/>
          <p:nvPr/>
        </p:nvSpPr>
        <p:spPr>
          <a:xfrm>
            <a:off x="969264" y="3877056"/>
            <a:ext cx="1737360" cy="713232"/>
          </a:xfrm>
          <a:prstGeom prst="rect">
            <a:avLst/>
          </a:prstGeom>
          <a:noFill/>
          <a:ln/>
        </p:spPr>
        <p:txBody>
          <a:bodyPr wrap="square" lIns="0" tIns="0" rIns="0" bIns="0" rtlCol="0" anchor="t"/>
          <a:lstStyle/>
          <a:p>
            <a:pPr indent="0" marL="0">
              <a:buNone/>
            </a:pPr>
            <a:r>
              <a:rPr lang="en-US" sz="4000" b="1" dirty="0">
                <a:solidFill>
                  <a:srgbClr val="D03B3B"/>
                </a:solidFill>
                <a:latin typeface="Cambria" pitchFamily="34" charset="0"/>
                <a:ea typeface="Cambria" pitchFamily="34" charset="-122"/>
                <a:cs typeface="Cambria" pitchFamily="34" charset="-120"/>
              </a:rPr>
              <a:t>0,56</a:t>
            </a:r>
            <a:endParaRPr lang="en-US" sz="4000" dirty="0"/>
          </a:p>
        </p:txBody>
      </p:sp>
      <p:sp>
        <p:nvSpPr>
          <p:cNvPr id="8" name="Text 6"/>
          <p:cNvSpPr/>
          <p:nvPr/>
        </p:nvSpPr>
        <p:spPr>
          <a:xfrm>
            <a:off x="969264" y="4572000"/>
            <a:ext cx="173736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AUC con el bug</a:t>
            </a:r>
            <a:endParaRPr lang="en-US" sz="1100" dirty="0"/>
          </a:p>
        </p:txBody>
      </p:sp>
      <p:sp>
        <p:nvSpPr>
          <p:cNvPr id="9" name="Shape 7"/>
          <p:cNvSpPr/>
          <p:nvPr/>
        </p:nvSpPr>
        <p:spPr>
          <a:xfrm>
            <a:off x="2889504" y="4041648"/>
            <a:ext cx="658368" cy="274320"/>
          </a:xfrm>
          <a:prstGeom prst="rightArrow">
            <a:avLst/>
          </a:prstGeom>
          <a:solidFill>
            <a:srgbClr val="898781"/>
          </a:solidFill>
          <a:ln w="12700">
            <a:solidFill>
              <a:srgbClr val="898781"/>
            </a:solidFill>
            <a:prstDash val="solid"/>
          </a:ln>
        </p:spPr>
      </p:sp>
      <p:sp>
        <p:nvSpPr>
          <p:cNvPr id="10" name="Text 8"/>
          <p:cNvSpPr/>
          <p:nvPr/>
        </p:nvSpPr>
        <p:spPr>
          <a:xfrm>
            <a:off x="3785616" y="3877056"/>
            <a:ext cx="2377440" cy="713232"/>
          </a:xfrm>
          <a:prstGeom prst="rect">
            <a:avLst/>
          </a:prstGeom>
          <a:noFill/>
          <a:ln/>
        </p:spPr>
        <p:txBody>
          <a:bodyPr wrap="square" lIns="0" tIns="0" rIns="0" bIns="0" rtlCol="0" anchor="t"/>
          <a:lstStyle/>
          <a:p>
            <a:pPr indent="0" marL="0">
              <a:buNone/>
            </a:pPr>
            <a:r>
              <a:rPr lang="en-US" sz="4000" b="1" dirty="0">
                <a:solidFill>
                  <a:srgbClr val="2A78D6"/>
                </a:solidFill>
                <a:latin typeface="Cambria" pitchFamily="34" charset="0"/>
                <a:ea typeface="Cambria" pitchFamily="34" charset="-122"/>
                <a:cs typeface="Cambria" pitchFamily="34" charset="-120"/>
              </a:rPr>
              <a:t>0,99</a:t>
            </a:r>
            <a:endParaRPr lang="en-US" sz="4000" dirty="0"/>
          </a:p>
        </p:txBody>
      </p:sp>
      <p:sp>
        <p:nvSpPr>
          <p:cNvPr id="11" name="Text 9"/>
          <p:cNvSpPr/>
          <p:nvPr/>
        </p:nvSpPr>
        <p:spPr>
          <a:xfrm>
            <a:off x="3785616" y="4572000"/>
            <a:ext cx="237744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AUC corregido</a:t>
            </a:r>
            <a:endParaRPr lang="en-US" sz="1100" dirty="0"/>
          </a:p>
        </p:txBody>
      </p:sp>
      <p:sp>
        <p:nvSpPr>
          <p:cNvPr id="12" name="Text 10"/>
          <p:cNvSpPr/>
          <p:nvPr/>
        </p:nvSpPr>
        <p:spPr>
          <a:xfrm>
            <a:off x="7059168" y="1783080"/>
            <a:ext cx="4443984" cy="1097280"/>
          </a:xfrm>
          <a:prstGeom prst="rect">
            <a:avLst/>
          </a:prstGeom>
          <a:noFill/>
          <a:ln/>
        </p:spPr>
        <p:txBody>
          <a:bodyPr wrap="square" lIns="0" tIns="0" rIns="0" bIns="0" rtlCol="0" anchor="ctr"/>
          <a:lstStyle/>
          <a:p>
            <a:pPr indent="0" marL="0">
              <a:lnSpc>
                <a:spcPct val="126000"/>
              </a:lnSpc>
              <a:buNone/>
            </a:pPr>
            <a:r>
              <a:rPr lang="en-US" sz="1400" i="1" dirty="0">
                <a:solidFill>
                  <a:srgbClr val="1A1D21"/>
                </a:solidFill>
                <a:latin typeface="Cambria" pitchFamily="34" charset="0"/>
                <a:ea typeface="Cambria" pitchFamily="34" charset="-122"/>
                <a:cs typeface="Cambria" pitchFamily="34" charset="-120"/>
              </a:rPr>
              <a:t>Un AUC de 0,56 es indistinguible de una ausencia genuina de señal biológica. Es exactamente el resultado que un trabajo honesto acepta y reporta.</a:t>
            </a:r>
            <a:endParaRPr lang="en-US" sz="1400" dirty="0"/>
          </a:p>
        </p:txBody>
      </p:sp>
      <p:sp>
        <p:nvSpPr>
          <p:cNvPr id="13" name="Shape 11"/>
          <p:cNvSpPr/>
          <p:nvPr/>
        </p:nvSpPr>
        <p:spPr>
          <a:xfrm>
            <a:off x="7059168" y="3017520"/>
            <a:ext cx="4443984" cy="2194560"/>
          </a:xfrm>
          <a:prstGeom prst="roundRect">
            <a:avLst>
              <a:gd name="adj" fmla="val 2500"/>
            </a:avLst>
          </a:prstGeom>
          <a:solidFill>
            <a:srgbClr val="1A1D21"/>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4" name="Text 12"/>
          <p:cNvSpPr/>
          <p:nvPr/>
        </p:nvSpPr>
        <p:spPr>
          <a:xfrm>
            <a:off x="7351776" y="3255264"/>
            <a:ext cx="3840480" cy="256032"/>
          </a:xfrm>
          <a:prstGeom prst="rect">
            <a:avLst/>
          </a:prstGeom>
          <a:noFill/>
          <a:ln/>
        </p:spPr>
        <p:txBody>
          <a:bodyPr wrap="square" lIns="0" tIns="0" rIns="0" bIns="0" rtlCol="0" anchor="ctr"/>
          <a:lstStyle/>
          <a:p>
            <a:pPr indent="0" marL="0">
              <a:buNone/>
            </a:pPr>
            <a:r>
              <a:rPr lang="en-US" sz="950" b="1" spc="150" kern="0" dirty="0">
                <a:solidFill>
                  <a:srgbClr val="898781"/>
                </a:solidFill>
                <a:latin typeface="Calibri" pitchFamily="34" charset="0"/>
                <a:ea typeface="Calibri" pitchFamily="34" charset="-122"/>
                <a:cs typeface="Calibri" pitchFamily="34" charset="-120"/>
              </a:rPr>
              <a:t>QUÉ LO REVELÓ</a:t>
            </a:r>
            <a:endParaRPr lang="en-US" sz="950" dirty="0"/>
          </a:p>
        </p:txBody>
      </p:sp>
      <p:sp>
        <p:nvSpPr>
          <p:cNvPr id="15" name="Text 13"/>
          <p:cNvSpPr/>
          <p:nvPr/>
        </p:nvSpPr>
        <p:spPr>
          <a:xfrm>
            <a:off x="7351776" y="3602736"/>
            <a:ext cx="3858768" cy="1463040"/>
          </a:xfrm>
          <a:prstGeom prst="rect">
            <a:avLst/>
          </a:prstGeom>
          <a:noFill/>
          <a:ln/>
        </p:spPr>
        <p:txBody>
          <a:bodyPr wrap="square" lIns="0" tIns="0" rIns="0" bIns="0" rtlCol="0" anchor="ctr"/>
          <a:lstStyle/>
          <a:p>
            <a:pPr indent="0" marL="0">
              <a:lnSpc>
                <a:spcPct val="122000"/>
              </a:lnSpc>
              <a:buNone/>
            </a:pPr>
            <a:r>
              <a:rPr lang="en-US" sz="1150" dirty="0">
                <a:solidFill>
                  <a:srgbClr val="C3C2B7"/>
                </a:solidFill>
                <a:latin typeface="Calibri" pitchFamily="34" charset="0"/>
                <a:ea typeface="Calibri" pitchFamily="34" charset="-122"/>
                <a:cs typeface="Calibri" pitchFamily="34" charset="-120"/>
              </a:rPr>
              <a:t>La comparación con marcadores de referencia externos. KRT5 mostraba una diferencia de +0,90 en esta cohorte, frente a +5,32 y +5,66 en las otras dos: la señal estaba presente, pero desacoplada de las etiquetas.</a:t>
            </a:r>
            <a:endParaRPr lang="en-US" sz="1150" dirty="0"/>
          </a:p>
        </p:txBody>
      </p:sp>
      <p:sp>
        <p:nvSpPr>
          <p:cNvPr id="16" name="Text 14"/>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El análisis original no se vio afectado: GSE30219 tiene una sola clase, e intercambiar etiquetas idénticas no altera nada. El fallo quedó latente.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II  ·  VALIDACIÓN EXTERNA</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El rendimiento reportado incluía tres cohortes que no miden nada</a:t>
            </a:r>
            <a:endParaRPr lang="en-US" sz="3200" dirty="0"/>
          </a:p>
        </p:txBody>
      </p:sp>
      <p:pic>
        <p:nvPicPr>
          <p:cNvPr id="4" name="Image 0" descr="/Users/danieltapiadiez/Desktop/UAX/TFM/figuras_auditoria/fig_lodo_vs_baseline.png">    </p:cNvPr>
          <p:cNvPicPr>
            <a:picLocks noChangeAspect="1"/>
          </p:cNvPicPr>
          <p:nvPr/>
        </p:nvPicPr>
        <p:blipFill>
          <a:blip r:embed="rId1"/>
          <a:stretch>
            <a:fillRect/>
          </a:stretch>
        </p:blipFill>
        <p:spPr>
          <a:xfrm>
            <a:off x="658368" y="1755648"/>
            <a:ext cx="5577840" cy="4218619"/>
          </a:xfrm>
          <a:prstGeom prst="rect">
            <a:avLst/>
          </a:prstGeom>
        </p:spPr>
      </p:pic>
      <p:sp>
        <p:nvSpPr>
          <p:cNvPr id="5" name="Shape 2"/>
          <p:cNvSpPr/>
          <p:nvPr/>
        </p:nvSpPr>
        <p:spPr>
          <a:xfrm>
            <a:off x="7699248" y="1783080"/>
            <a:ext cx="3803904" cy="2798064"/>
          </a:xfrm>
          <a:prstGeom prst="roundRect">
            <a:avLst>
              <a:gd name="adj" fmla="val 1961"/>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6" name="Text 3"/>
          <p:cNvSpPr/>
          <p:nvPr/>
        </p:nvSpPr>
        <p:spPr>
          <a:xfrm>
            <a:off x="7973568" y="2020824"/>
            <a:ext cx="3291840" cy="384048"/>
          </a:xfrm>
          <a:prstGeom prst="rect">
            <a:avLst/>
          </a:prstGeom>
          <a:noFill/>
          <a:ln/>
        </p:spPr>
        <p:txBody>
          <a:bodyPr wrap="square" lIns="0" tIns="0" rIns="0" bIns="0" rtlCol="0" anchor="ctr"/>
          <a:lstStyle/>
          <a:p>
            <a:pPr indent="0" marL="0">
              <a:buNone/>
            </a:pPr>
            <a:r>
              <a:rPr lang="en-US" sz="950" b="1" spc="140" kern="0" dirty="0">
                <a:solidFill>
                  <a:srgbClr val="898781"/>
                </a:solidFill>
                <a:latin typeface="Calibri" pitchFamily="34" charset="0"/>
                <a:ea typeface="Calibri" pitchFamily="34" charset="-122"/>
                <a:cs typeface="Calibri" pitchFamily="34" charset="-120"/>
              </a:rPr>
              <a:t>MEDIA SOBRE COHORTES EVALUABLES</a:t>
            </a:r>
            <a:endParaRPr lang="en-US" sz="950" dirty="0"/>
          </a:p>
        </p:txBody>
      </p:sp>
      <p:sp>
        <p:nvSpPr>
          <p:cNvPr id="7" name="Text 4"/>
          <p:cNvSpPr/>
          <p:nvPr/>
        </p:nvSpPr>
        <p:spPr>
          <a:xfrm>
            <a:off x="7973568" y="2459736"/>
            <a:ext cx="3291840" cy="713232"/>
          </a:xfrm>
          <a:prstGeom prst="rect">
            <a:avLst/>
          </a:prstGeom>
          <a:noFill/>
          <a:ln/>
        </p:spPr>
        <p:txBody>
          <a:bodyPr wrap="square" lIns="0" tIns="0" rIns="0" bIns="0" rtlCol="0" anchor="t"/>
          <a:lstStyle/>
          <a:p>
            <a:pPr indent="0" marL="0">
              <a:buNone/>
            </a:pPr>
            <a:r>
              <a:rPr lang="en-US" sz="4000" b="1" dirty="0">
                <a:solidFill>
                  <a:srgbClr val="2A78D6"/>
                </a:solidFill>
                <a:latin typeface="Cambria" pitchFamily="34" charset="0"/>
                <a:ea typeface="Cambria" pitchFamily="34" charset="-122"/>
                <a:cs typeface="Cambria" pitchFamily="34" charset="-120"/>
              </a:rPr>
              <a:t>0,772</a:t>
            </a:r>
            <a:endParaRPr lang="en-US" sz="4000" dirty="0"/>
          </a:p>
        </p:txBody>
      </p:sp>
      <p:sp>
        <p:nvSpPr>
          <p:cNvPr id="8" name="Text 5"/>
          <p:cNvSpPr/>
          <p:nvPr/>
        </p:nvSpPr>
        <p:spPr>
          <a:xfrm>
            <a:off x="7973568" y="3154680"/>
            <a:ext cx="329184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balanced accuracy sobre 8 de 11 cohortes</a:t>
            </a:r>
            <a:endParaRPr lang="en-US" sz="1100" dirty="0"/>
          </a:p>
        </p:txBody>
      </p:sp>
      <p:sp>
        <p:nvSpPr>
          <p:cNvPr id="9" name="Text 6"/>
          <p:cNvSpPr/>
          <p:nvPr/>
        </p:nvSpPr>
        <p:spPr>
          <a:xfrm>
            <a:off x="7973568" y="3831336"/>
            <a:ext cx="3291840" cy="548640"/>
          </a:xfrm>
          <a:prstGeom prst="rect">
            <a:avLst/>
          </a:prstGeom>
          <a:noFill/>
          <a:ln/>
        </p:spPr>
        <p:txBody>
          <a:bodyPr wrap="square" lIns="0" tIns="0" rIns="0" bIns="0" rtlCol="0" anchor="ctr"/>
          <a:lstStyle/>
          <a:p>
            <a:pPr indent="0" marL="0">
              <a:lnSpc>
                <a:spcPct val="120000"/>
              </a:lnSpc>
              <a:buNone/>
            </a:pPr>
            <a:r>
              <a:rPr lang="en-US" sz="1100" dirty="0">
                <a:solidFill>
                  <a:srgbClr val="52514E"/>
                </a:solidFill>
                <a:latin typeface="Calibri" pitchFamily="34" charset="0"/>
                <a:ea typeface="Calibri" pitchFamily="34" charset="-122"/>
                <a:cs typeface="Calibri" pitchFamily="34" charset="-120"/>
              </a:rPr>
              <a:t>Frente a una accuracy de 0,778 sobre las 11, con las tres monoclase dentro.</a:t>
            </a:r>
            <a:endParaRPr lang="en-US" sz="1100" dirty="0"/>
          </a:p>
        </p:txBody>
      </p:sp>
      <p:sp>
        <p:nvSpPr>
          <p:cNvPr id="10" name="Shape 7"/>
          <p:cNvSpPr/>
          <p:nvPr/>
        </p:nvSpPr>
        <p:spPr>
          <a:xfrm>
            <a:off x="7699248" y="4718304"/>
            <a:ext cx="3803904" cy="1481328"/>
          </a:xfrm>
          <a:prstGeom prst="roundRect">
            <a:avLst>
              <a:gd name="adj" fmla="val 3704"/>
            </a:avLst>
          </a:prstGeom>
          <a:solidFill>
            <a:srgbClr val="1A1D21"/>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1" name="Text 8"/>
          <p:cNvSpPr/>
          <p:nvPr/>
        </p:nvSpPr>
        <p:spPr>
          <a:xfrm>
            <a:off x="7973568" y="4919472"/>
            <a:ext cx="3291840" cy="1097280"/>
          </a:xfrm>
          <a:prstGeom prst="rect">
            <a:avLst/>
          </a:prstGeom>
          <a:noFill/>
          <a:ln/>
        </p:spPr>
        <p:txBody>
          <a:bodyPr wrap="square" lIns="0" tIns="0" rIns="0" bIns="0" rtlCol="0" anchor="ctr"/>
          <a:lstStyle/>
          <a:p>
            <a:pPr indent="0" marL="0">
              <a:lnSpc>
                <a:spcPct val="120000"/>
              </a:lnSpc>
              <a:buNone/>
            </a:pPr>
            <a:r>
              <a:rPr lang="en-US" sz="2200" b="1" dirty="0">
                <a:solidFill>
                  <a:srgbClr val="D03B3B"/>
                </a:solidFill>
                <a:latin typeface="Cambria" pitchFamily="34" charset="0"/>
                <a:ea typeface="Cambria" pitchFamily="34" charset="-122"/>
                <a:cs typeface="Cambria" pitchFamily="34" charset="-120"/>
              </a:rPr>
              <a:t>3 de 8</a:t>
            </a:r>
            <a:pPr indent="0" marL="0">
              <a:lnSpc>
                <a:spcPct val="120000"/>
              </a:lnSpc>
              <a:buNone/>
            </a:pPr>
            <a:r>
              <a:rPr lang="en-US" sz="1150" dirty="0">
                <a:solidFill>
                  <a:srgbClr val="C3C2B7"/>
                </a:solidFill>
                <a:latin typeface="Calibri" pitchFamily="34" charset="0"/>
                <a:ea typeface="Calibri" pitchFamily="34" charset="-122"/>
                <a:cs typeface="Calibri" pitchFamily="34" charset="-120"/>
              </a:rPr>
              <a:t>  cohortes evaluables no superan su propio baseline de clase mayoritaria.</a:t>
            </a:r>
            <a:endParaRPr lang="en-US" sz="2200" dirty="0"/>
          </a:p>
        </p:txBody>
      </p:sp>
      <p:sp>
        <p:nvSpPr>
          <p:cNvPr id="12" name="Text 9"/>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Modelo idéntico al análisis original (LASSO, C=0,5). Solo cambian el alineamiento corregido y las métricas reportadas.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II  ·  HALLAZGO NO PREVISTO</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La firma ordena bien las muestras. El umbral no transfiere</a:t>
            </a:r>
            <a:endParaRPr lang="en-US" sz="3200" dirty="0"/>
          </a:p>
        </p:txBody>
      </p:sp>
      <p:pic>
        <p:nvPicPr>
          <p:cNvPr id="4" name="Image 0" descr="/Users/danieltapiadiez/Desktop/UAX/TFM/figuras_auditoria/fig_auc_vs_balacc.png">    </p:cNvPr>
          <p:cNvPicPr>
            <a:picLocks noChangeAspect="1"/>
          </p:cNvPicPr>
          <p:nvPr/>
        </p:nvPicPr>
        <p:blipFill>
          <a:blip r:embed="rId1"/>
          <a:stretch>
            <a:fillRect/>
          </a:stretch>
        </p:blipFill>
        <p:spPr>
          <a:xfrm>
            <a:off x="7360920" y="1737360"/>
            <a:ext cx="4023360" cy="4087368"/>
          </a:xfrm>
          <a:prstGeom prst="rect">
            <a:avLst/>
          </a:prstGeom>
        </p:spPr>
      </p:pic>
      <p:sp>
        <p:nvSpPr>
          <p:cNvPr id="5" name="Text 2"/>
          <p:cNvSpPr/>
          <p:nvPr/>
        </p:nvSpPr>
        <p:spPr>
          <a:xfrm>
            <a:off x="658368" y="1755648"/>
            <a:ext cx="6309360" cy="1280160"/>
          </a:xfrm>
          <a:prstGeom prst="rect">
            <a:avLst/>
          </a:prstGeom>
          <a:noFill/>
          <a:ln/>
        </p:spPr>
        <p:txBody>
          <a:bodyPr wrap="square" lIns="0" tIns="0" rIns="0" bIns="0" rtlCol="0" anchor="ctr"/>
          <a:lstStyle/>
          <a:p>
            <a:pPr indent="0" marL="0">
              <a:lnSpc>
                <a:spcPct val="130000"/>
              </a:lnSpc>
              <a:buNone/>
            </a:pPr>
            <a:r>
              <a:rPr lang="en-US" sz="1350" dirty="0">
                <a:solidFill>
                  <a:srgbClr val="52514E"/>
                </a:solidFill>
                <a:latin typeface="Calibri" pitchFamily="34" charset="0"/>
                <a:ea typeface="Calibri" pitchFamily="34" charset="-122"/>
                <a:cs typeface="Calibri" pitchFamily="34" charset="-120"/>
              </a:rPr>
              <a:t>Sobre las mismas 8 cohortes, el AUC medio es 0,925 mientras la balanced accuracy se queda en 0,772. La divergencia es sistemática, y alcanza su expresión extrema en GSE40791: accuracy 0,167 con AUC 1,000.</a:t>
            </a:r>
            <a:endParaRPr lang="en-US" sz="1350" dirty="0"/>
          </a:p>
        </p:txBody>
      </p:sp>
      <p:sp>
        <p:nvSpPr>
          <p:cNvPr id="6" name="Text 3"/>
          <p:cNvSpPr/>
          <p:nvPr/>
        </p:nvSpPr>
        <p:spPr>
          <a:xfrm>
            <a:off x="658368" y="3127248"/>
            <a:ext cx="6309360" cy="822960"/>
          </a:xfrm>
          <a:prstGeom prst="rect">
            <a:avLst/>
          </a:prstGeom>
          <a:noFill/>
          <a:ln/>
        </p:spPr>
        <p:txBody>
          <a:bodyPr wrap="square" lIns="0" tIns="0" rIns="0" bIns="0" rtlCol="0" anchor="ctr"/>
          <a:lstStyle/>
          <a:p>
            <a:pPr indent="0" marL="0">
              <a:lnSpc>
                <a:spcPct val="126000"/>
              </a:lnSpc>
              <a:buNone/>
            </a:pPr>
            <a:r>
              <a:rPr lang="en-US" sz="1450" i="1" dirty="0">
                <a:solidFill>
                  <a:srgbClr val="1A1D21"/>
                </a:solidFill>
                <a:latin typeface="Cambria" pitchFamily="34" charset="0"/>
                <a:ea typeface="Cambria" pitchFamily="34" charset="-122"/>
                <a:cs typeface="Cambria" pitchFamily="34" charset="-120"/>
              </a:rPr>
              <a:t>Un AUC de 1,000 significa que existe un umbral que separa las muestras sin error. Una accuracy de 0,167 significa que el umbral empleado no es ese.</a:t>
            </a:r>
            <a:endParaRPr lang="en-US" sz="1450" dirty="0"/>
          </a:p>
        </p:txBody>
      </p:sp>
      <p:sp>
        <p:nvSpPr>
          <p:cNvPr id="7" name="Shape 4"/>
          <p:cNvSpPr/>
          <p:nvPr/>
        </p:nvSpPr>
        <p:spPr>
          <a:xfrm>
            <a:off x="658368" y="4114800"/>
            <a:ext cx="6309360" cy="1737360"/>
          </a:xfrm>
          <a:prstGeom prst="roundRect">
            <a:avLst>
              <a:gd name="adj" fmla="val 3158"/>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8" name="Text 5"/>
          <p:cNvSpPr/>
          <p:nvPr/>
        </p:nvSpPr>
        <p:spPr>
          <a:xfrm>
            <a:off x="969264" y="4315968"/>
            <a:ext cx="5715000" cy="566928"/>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Sensibilidad media  </a:t>
            </a:r>
            <a:pPr indent="0" marL="0">
              <a:buNone/>
            </a:pPr>
            <a:r>
              <a:rPr lang="en-US" sz="1900" b="1" dirty="0">
                <a:solidFill>
                  <a:srgbClr val="1A1D21"/>
                </a:solidFill>
                <a:latin typeface="Cambria" pitchFamily="34" charset="0"/>
                <a:ea typeface="Cambria" pitchFamily="34" charset="-122"/>
                <a:cs typeface="Cambria" pitchFamily="34" charset="-120"/>
              </a:rPr>
              <a:t>0,983</a:t>
            </a:r>
            <a:pPr indent="0" marL="0">
              <a:buNone/>
            </a:pPr>
            <a:r>
              <a:rPr lang="en-US" sz="1200" dirty="0">
                <a:solidFill>
                  <a:srgbClr val="52514E"/>
                </a:solidFill>
                <a:latin typeface="Calibri" pitchFamily="34" charset="0"/>
                <a:ea typeface="Calibri" pitchFamily="34" charset="-122"/>
                <a:cs typeface="Calibri" pitchFamily="34" charset="-120"/>
              </a:rPr>
              <a:t>        Especificidad media  </a:t>
            </a:r>
            <a:pPr indent="0" marL="0">
              <a:buNone/>
            </a:pPr>
            <a:r>
              <a:rPr lang="en-US" sz="1900" b="1" dirty="0">
                <a:solidFill>
                  <a:srgbClr val="D03B3B"/>
                </a:solidFill>
                <a:latin typeface="Cambria" pitchFamily="34" charset="0"/>
                <a:ea typeface="Cambria" pitchFamily="34" charset="-122"/>
                <a:cs typeface="Cambria" pitchFamily="34" charset="-120"/>
              </a:rPr>
              <a:t>0,561</a:t>
            </a:r>
            <a:endParaRPr lang="en-US" sz="1200" dirty="0"/>
          </a:p>
        </p:txBody>
      </p:sp>
      <p:sp>
        <p:nvSpPr>
          <p:cNvPr id="9" name="Text 6"/>
          <p:cNvSpPr/>
          <p:nvPr/>
        </p:nvSpPr>
        <p:spPr>
          <a:xfrm>
            <a:off x="969264" y="4882896"/>
            <a:ext cx="5715000" cy="859536"/>
          </a:xfrm>
          <a:prstGeom prst="rect">
            <a:avLst/>
          </a:prstGeom>
          <a:noFill/>
          <a:ln/>
        </p:spPr>
        <p:txBody>
          <a:bodyPr wrap="square" lIns="0" tIns="0" rIns="0" bIns="0" rtlCol="0" anchor="ctr"/>
          <a:lstStyle/>
          <a:p>
            <a:pPr indent="0" marL="0">
              <a:lnSpc>
                <a:spcPct val="122000"/>
              </a:lnSpc>
              <a:buNone/>
            </a:pPr>
            <a:r>
              <a:rPr lang="en-US" sz="1150" dirty="0">
                <a:solidFill>
                  <a:srgbClr val="52514E"/>
                </a:solidFill>
                <a:latin typeface="Calibri" pitchFamily="34" charset="0"/>
                <a:ea typeface="Calibri" pitchFamily="34" charset="-122"/>
                <a:cs typeface="Calibri" pitchFamily="34" charset="-120"/>
              </a:rPr>
              <a:t>El modelo clasifica como tumoral casi todo lo que recibe. Es coherente con su entrenamiento: 938 tumores frente a 219 controles. Es un problema de calibración, no de dificultad intrínseca — y los problemas de calibración se corrigen.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III  ·  QUÉ MIDE LA FIRMA</a:t>
            </a:r>
            <a:endParaRPr lang="en-US" sz="1000" dirty="0"/>
          </a:p>
        </p:txBody>
      </p:sp>
      <p:sp>
        <p:nvSpPr>
          <p:cNvPr id="3" name="Text 1"/>
          <p:cNvSpPr/>
          <p:nvPr/>
        </p:nvSpPr>
        <p:spPr>
          <a:xfrm>
            <a:off x="658368" y="420624"/>
            <a:ext cx="8686800"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Composición del tejido, no biología del tumor</a:t>
            </a:r>
            <a:endParaRPr lang="en-US" sz="3200" dirty="0"/>
          </a:p>
        </p:txBody>
      </p:sp>
      <p:sp>
        <p:nvSpPr>
          <p:cNvPr id="4" name="Text 2"/>
          <p:cNvSpPr/>
          <p:nvPr/>
        </p:nvSpPr>
        <p:spPr>
          <a:xfrm>
            <a:off x="9692640" y="566928"/>
            <a:ext cx="1737360" cy="237744"/>
          </a:xfrm>
          <a:prstGeom prst="rect">
            <a:avLst/>
          </a:prstGeom>
          <a:noFill/>
          <a:ln/>
        </p:spPr>
        <p:txBody>
          <a:bodyPr wrap="square" lIns="0" tIns="0" rIns="0" bIns="0" rtlCol="0" anchor="ctr"/>
          <a:lstStyle/>
          <a:p>
            <a:pPr indent="0" marL="0">
              <a:buNone/>
            </a:pPr>
            <a:r>
              <a:rPr lang="en-US" sz="950" b="1" spc="140" kern="0" dirty="0">
                <a:solidFill>
                  <a:srgbClr val="D03B3B"/>
                </a:solidFill>
                <a:latin typeface="Calibri" pitchFamily="34" charset="0"/>
                <a:ea typeface="Calibri" pitchFamily="34" charset="-122"/>
                <a:cs typeface="Calibri" pitchFamily="34" charset="-120"/>
              </a:rPr>
              <a:t>NO CONFIRMADA</a:t>
            </a:r>
            <a:endParaRPr lang="en-US" sz="950" dirty="0"/>
          </a:p>
        </p:txBody>
      </p:sp>
      <p:pic>
        <p:nvPicPr>
          <p:cNvPr id="5" name="Image 0" descr="/Users/danieltapiadiez/Desktop/UAX/TFM/figuras_auditoria/fig_composicion_tumores.png">    </p:cNvPr>
          <p:cNvPicPr>
            <a:picLocks noChangeAspect="1"/>
          </p:cNvPicPr>
          <p:nvPr/>
        </p:nvPicPr>
        <p:blipFill>
          <a:blip r:embed="rId1"/>
          <a:stretch>
            <a:fillRect/>
          </a:stretch>
        </p:blipFill>
        <p:spPr>
          <a:xfrm>
            <a:off x="658368" y="1737360"/>
            <a:ext cx="10844784" cy="3137559"/>
          </a:xfrm>
          <a:prstGeom prst="rect">
            <a:avLst/>
          </a:prstGeom>
        </p:spPr>
      </p:pic>
      <p:sp>
        <p:nvSpPr>
          <p:cNvPr id="6" name="Text 3"/>
          <p:cNvSpPr/>
          <p:nvPr/>
        </p:nvSpPr>
        <p:spPr>
          <a:xfrm>
            <a:off x="658368" y="4956048"/>
            <a:ext cx="5486400" cy="731520"/>
          </a:xfrm>
          <a:prstGeom prst="rect">
            <a:avLst/>
          </a:prstGeom>
          <a:noFill/>
          <a:ln/>
        </p:spPr>
        <p:txBody>
          <a:bodyPr wrap="square" lIns="0" tIns="0" rIns="0" bIns="0" rtlCol="0" anchor="ctr"/>
          <a:lstStyle/>
          <a:p>
            <a:pPr indent="0" marL="0">
              <a:lnSpc>
                <a:spcPct val="124000"/>
              </a:lnSpc>
              <a:buNone/>
            </a:pPr>
            <a:r>
              <a:rPr lang="en-US" sz="1250" dirty="0">
                <a:solidFill>
                  <a:srgbClr val="52514E"/>
                </a:solidFill>
                <a:latin typeface="Calibri" pitchFamily="34" charset="0"/>
                <a:ea typeface="Calibri" pitchFamily="34" charset="-122"/>
                <a:cs typeface="Calibri" pitchFamily="34" charset="-120"/>
              </a:rPr>
              <a:t>Umbral pre-registrado |ρ| &gt; 0,7. Obtenido: ρ = -0,626 entre muestras tumorales (4 cohortes con tumores suficientes). El umbral no se modificó.</a:t>
            </a:r>
            <a:endParaRPr lang="en-US" sz="1250" dirty="0"/>
          </a:p>
        </p:txBody>
      </p:sp>
      <p:sp>
        <p:nvSpPr>
          <p:cNvPr id="7" name="Text 4"/>
          <p:cNvSpPr/>
          <p:nvPr/>
        </p:nvSpPr>
        <p:spPr>
          <a:xfrm>
            <a:off x="6400800" y="4956048"/>
            <a:ext cx="5120640" cy="914400"/>
          </a:xfrm>
          <a:prstGeom prst="rect">
            <a:avLst/>
          </a:prstGeom>
          <a:noFill/>
          <a:ln/>
        </p:spPr>
        <p:txBody>
          <a:bodyPr wrap="square" lIns="0" tIns="0" rIns="0" bIns="0" rtlCol="0" anchor="ctr"/>
          <a:lstStyle/>
          <a:p>
            <a:pPr indent="0" marL="0">
              <a:lnSpc>
                <a:spcPct val="124000"/>
              </a:lnSpc>
              <a:buNone/>
            </a:pPr>
            <a:r>
              <a:rPr lang="en-US" sz="1250" dirty="0">
                <a:solidFill>
                  <a:srgbClr val="52514E"/>
                </a:solidFill>
                <a:latin typeface="Calibri" pitchFamily="34" charset="0"/>
                <a:ea typeface="Calibri" pitchFamily="34" charset="-122"/>
                <a:cs typeface="Calibri" pitchFamily="34" charset="-120"/>
              </a:rPr>
              <a:t>La lectura que sostienen los datos es intermedia: la composición explica una fracción sustancial de la señal, pero no la agota. Y apareció un segundo eje no previsto —proliferación— con ρ de +0,27 a +0,72.</a:t>
            </a:r>
            <a:endParaRPr lang="en-US" sz="1250" dirty="0"/>
          </a:p>
        </p:txBody>
      </p:sp>
      <p:sp>
        <p:nvSpPr>
          <p:cNvPr id="8" name="Text 5"/>
          <p:cNvSpPr/>
          <p:nvPr/>
        </p:nvSpPr>
        <p:spPr>
          <a:xfrm>
            <a:off x="658368" y="5961888"/>
            <a:ext cx="10844784" cy="457200"/>
          </a:xfrm>
          <a:prstGeom prst="rect">
            <a:avLst/>
          </a:prstGeom>
          <a:noFill/>
          <a:ln/>
        </p:spPr>
        <p:txBody>
          <a:bodyPr wrap="square" lIns="0" tIns="0" rIns="0" bIns="0" rtlCol="0" anchor="ctr"/>
          <a:lstStyle/>
          <a:p>
            <a:pPr indent="0" marL="0">
              <a:buNone/>
            </a:pPr>
            <a:r>
              <a:rPr lang="en-US" sz="1350" i="1" dirty="0">
                <a:solidFill>
                  <a:srgbClr val="1A1D21"/>
                </a:solidFill>
                <a:latin typeface="Cambria" pitchFamily="34" charset="0"/>
                <a:ea typeface="Cambria" pitchFamily="34" charset="-122"/>
                <a:cs typeface="Cambria" pitchFamily="34" charset="-120"/>
              </a:rPr>
              <a:t>Cinco de los cincuenta genes principales son marcadores canónicos de pulmón sano —AGER, CLDN18, SFTPC, FABP4, WIF1— con logFC próximo a −4.</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IV  ·  UNA MÉTRICA QUE NO PUEDE FALLAR</a:t>
            </a:r>
            <a:endParaRPr lang="en-US" sz="1000" dirty="0"/>
          </a:p>
        </p:txBody>
      </p:sp>
      <p:sp>
        <p:nvSpPr>
          <p:cNvPr id="3" name="Text 1"/>
          <p:cNvSpPr/>
          <p:nvPr/>
        </p:nvSpPr>
        <p:spPr>
          <a:xfrm>
            <a:off x="658368" y="420624"/>
            <a:ext cx="9052560" cy="1097280"/>
          </a:xfrm>
          <a:prstGeom prst="rect">
            <a:avLst/>
          </a:prstGeom>
          <a:noFill/>
          <a:ln/>
        </p:spPr>
        <p:txBody>
          <a:bodyPr wrap="square" lIns="0" tIns="0" rIns="0" bIns="0" rtlCol="0" anchor="t"/>
          <a:lstStyle/>
          <a:p>
            <a:pPr indent="0" marL="0">
              <a:buNone/>
            </a:pPr>
            <a:r>
              <a:rPr lang="en-US" sz="2900" b="1" dirty="0">
                <a:solidFill>
                  <a:srgbClr val="1A1D21"/>
                </a:solidFill>
                <a:latin typeface="Cambria" pitchFamily="34" charset="0"/>
                <a:ea typeface="Cambria" pitchFamily="34" charset="-122"/>
                <a:cs typeface="Cambria" pitchFamily="34" charset="-120"/>
              </a:rPr>
              <a:t>La consistencia de signo entre folds</a:t>
            </a:r>
            <a:endParaRPr lang="en-US" sz="2900" dirty="0"/>
          </a:p>
          <a:p>
            <a:pPr indent="0" marL="0">
              <a:buNone/>
            </a:pPr>
            <a:r>
              <a:rPr lang="en-US" sz="2900" b="1" dirty="0">
                <a:solidFill>
                  <a:srgbClr val="1A1D21"/>
                </a:solidFill>
                <a:latin typeface="Cambria" pitchFamily="34" charset="0"/>
                <a:ea typeface="Cambria" pitchFamily="34" charset="-122"/>
                <a:cs typeface="Cambria" pitchFamily="34" charset="-120"/>
              </a:rPr>
              <a:t>no mide reproducibilidad</a:t>
            </a:r>
            <a:endParaRPr lang="en-US" sz="2900" dirty="0"/>
          </a:p>
        </p:txBody>
      </p:sp>
      <p:sp>
        <p:nvSpPr>
          <p:cNvPr id="4" name="Text 2"/>
          <p:cNvSpPr/>
          <p:nvPr/>
        </p:nvSpPr>
        <p:spPr>
          <a:xfrm>
            <a:off x="9966960" y="566928"/>
            <a:ext cx="1737360" cy="237744"/>
          </a:xfrm>
          <a:prstGeom prst="rect">
            <a:avLst/>
          </a:prstGeom>
          <a:noFill/>
          <a:ln/>
        </p:spPr>
        <p:txBody>
          <a:bodyPr wrap="square" lIns="0" tIns="0" rIns="0" bIns="0" rtlCol="0" anchor="ctr"/>
          <a:lstStyle/>
          <a:p>
            <a:pPr indent="0" marL="0">
              <a:buNone/>
            </a:pPr>
            <a:r>
              <a:rPr lang="en-US" sz="950" b="1" spc="140" kern="0" dirty="0">
                <a:solidFill>
                  <a:srgbClr val="2A78D6"/>
                </a:solidFill>
                <a:latin typeface="Calibri" pitchFamily="34" charset="0"/>
                <a:ea typeface="Calibri" pitchFamily="34" charset="-122"/>
                <a:cs typeface="Calibri" pitchFamily="34" charset="-120"/>
              </a:rPr>
              <a:t>CONFIRMADA</a:t>
            </a:r>
            <a:endParaRPr lang="en-US" sz="950" dirty="0"/>
          </a:p>
        </p:txBody>
      </p:sp>
      <p:pic>
        <p:nvPicPr>
          <p:cNvPr id="5" name="Image 0" descr="/Users/danieltapiadiez/Desktop/UAX/TFM/figuras_auditoria/fig_concordancia_folds.png">    </p:cNvPr>
          <p:cNvPicPr>
            <a:picLocks noChangeAspect="1"/>
          </p:cNvPicPr>
          <p:nvPr/>
        </p:nvPicPr>
        <p:blipFill>
          <a:blip r:embed="rId1"/>
          <a:stretch>
            <a:fillRect/>
          </a:stretch>
        </p:blipFill>
        <p:spPr>
          <a:xfrm>
            <a:off x="7772400" y="1783080"/>
            <a:ext cx="3730752" cy="3197101"/>
          </a:xfrm>
          <a:prstGeom prst="rect">
            <a:avLst/>
          </a:prstGeom>
        </p:spPr>
      </p:pic>
      <p:sp>
        <p:nvSpPr>
          <p:cNvPr id="6" name="Text 3"/>
          <p:cNvSpPr/>
          <p:nvPr/>
        </p:nvSpPr>
        <p:spPr>
          <a:xfrm>
            <a:off x="658368" y="1783080"/>
            <a:ext cx="6675120" cy="914400"/>
          </a:xfrm>
          <a:prstGeom prst="rect">
            <a:avLst/>
          </a:prstGeom>
          <a:noFill/>
          <a:ln/>
        </p:spPr>
        <p:txBody>
          <a:bodyPr wrap="square" lIns="0" tIns="0" rIns="0" bIns="0" rtlCol="0" anchor="ctr"/>
          <a:lstStyle/>
          <a:p>
            <a:pPr indent="0" marL="0">
              <a:lnSpc>
                <a:spcPct val="130000"/>
              </a:lnSpc>
              <a:buNone/>
            </a:pPr>
            <a:r>
              <a:rPr lang="en-US" sz="1350" dirty="0">
                <a:solidFill>
                  <a:srgbClr val="52514E"/>
                </a:solidFill>
                <a:latin typeface="Calibri" pitchFamily="34" charset="0"/>
                <a:ea typeface="Calibri" pitchFamily="34" charset="-122"/>
                <a:cs typeface="Calibri" pitchFamily="34" charset="-120"/>
              </a:rPr>
              <a:t>El análisis original medía la estabilidad de un gen sumando el signo de su coeficiente a lo largo de los folds LODO, y presentaba «11 de 11» como prueba de robustez biológica.</a:t>
            </a:r>
            <a:endParaRPr lang="en-US" sz="1350" dirty="0"/>
          </a:p>
        </p:txBody>
      </p:sp>
      <p:sp>
        <p:nvSpPr>
          <p:cNvPr id="7" name="Text 4"/>
          <p:cNvSpPr/>
          <p:nvPr/>
        </p:nvSpPr>
        <p:spPr>
          <a:xfrm>
            <a:off x="658368" y="2798064"/>
            <a:ext cx="6675120" cy="914400"/>
          </a:xfrm>
          <a:prstGeom prst="rect">
            <a:avLst/>
          </a:prstGeom>
          <a:noFill/>
          <a:ln/>
        </p:spPr>
        <p:txBody>
          <a:bodyPr wrap="square" lIns="0" tIns="0" rIns="0" bIns="0" rtlCol="0" anchor="ctr"/>
          <a:lstStyle/>
          <a:p>
            <a:pPr indent="0" marL="0">
              <a:lnSpc>
                <a:spcPct val="126000"/>
              </a:lnSpc>
              <a:buNone/>
            </a:pPr>
            <a:r>
              <a:rPr lang="en-US" sz="1450" i="1" dirty="0">
                <a:solidFill>
                  <a:srgbClr val="1A1D21"/>
                </a:solidFill>
                <a:latin typeface="Cambria" pitchFamily="34" charset="0"/>
                <a:ea typeface="Cambria" pitchFamily="34" charset="-122"/>
                <a:cs typeface="Cambria" pitchFamily="34" charset="-120"/>
              </a:rPr>
              <a:t>Pero dos folds LODO comparten una mediana del 97,6 % de sus muestras de entrenamiento. No son réplicas independientes: es casi el mismo modelo ajustado varias veces.</a:t>
            </a:r>
            <a:endParaRPr lang="en-US" sz="1450" dirty="0"/>
          </a:p>
        </p:txBody>
      </p:sp>
      <p:sp>
        <p:nvSpPr>
          <p:cNvPr id="8" name="Shape 5"/>
          <p:cNvSpPr/>
          <p:nvPr/>
        </p:nvSpPr>
        <p:spPr>
          <a:xfrm>
            <a:off x="658368" y="3840480"/>
            <a:ext cx="6675120" cy="2048256"/>
          </a:xfrm>
          <a:prstGeom prst="roundRect">
            <a:avLst>
              <a:gd name="adj" fmla="val 2679"/>
            </a:avLst>
          </a:prstGeom>
          <a:solidFill>
            <a:srgbClr val="1A1D21"/>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9" name="Text 6"/>
          <p:cNvSpPr/>
          <p:nvPr/>
        </p:nvSpPr>
        <p:spPr>
          <a:xfrm>
            <a:off x="969264" y="4078224"/>
            <a:ext cx="6035040" cy="256032"/>
          </a:xfrm>
          <a:prstGeom prst="rect">
            <a:avLst/>
          </a:prstGeom>
          <a:noFill/>
          <a:ln/>
        </p:spPr>
        <p:txBody>
          <a:bodyPr wrap="square" lIns="0" tIns="0" rIns="0" bIns="0" rtlCol="0" anchor="ctr"/>
          <a:lstStyle/>
          <a:p>
            <a:pPr indent="0" marL="0">
              <a:buNone/>
            </a:pPr>
            <a:r>
              <a:rPr lang="en-US" sz="950" b="1" spc="150" kern="0" dirty="0">
                <a:solidFill>
                  <a:srgbClr val="898781"/>
                </a:solidFill>
                <a:latin typeface="Calibri" pitchFamily="34" charset="0"/>
                <a:ea typeface="Calibri" pitchFamily="34" charset="-122"/>
                <a:cs typeface="Calibri" pitchFamily="34" charset="-120"/>
              </a:rPr>
              <a:t>CONSECUENCIA SOBRE LA FIRMA PREVIA</a:t>
            </a:r>
            <a:endParaRPr lang="en-US" sz="950" dirty="0"/>
          </a:p>
        </p:txBody>
      </p:sp>
      <p:sp>
        <p:nvSpPr>
          <p:cNvPr id="10" name="Text 7"/>
          <p:cNvSpPr/>
          <p:nvPr/>
        </p:nvSpPr>
        <p:spPr>
          <a:xfrm>
            <a:off x="969264" y="4407408"/>
            <a:ext cx="6053328" cy="1371600"/>
          </a:xfrm>
          <a:prstGeom prst="rect">
            <a:avLst/>
          </a:prstGeom>
          <a:noFill/>
          <a:ln/>
        </p:spPr>
        <p:txBody>
          <a:bodyPr wrap="square" lIns="0" tIns="0" rIns="0" bIns="0" rtlCol="0" anchor="t"/>
          <a:lstStyle/>
          <a:p>
            <a:pPr indent="0" marL="0">
              <a:lnSpc>
                <a:spcPct val="122000"/>
              </a:lnSpc>
              <a:buNone/>
            </a:pPr>
            <a:r>
              <a:rPr lang="en-US" sz="1700" b="1" dirty="0">
                <a:solidFill>
                  <a:srgbClr val="FFFFFF"/>
                </a:solidFill>
                <a:latin typeface="Cambria" pitchFamily="34" charset="0"/>
                <a:ea typeface="Cambria" pitchFamily="34" charset="-122"/>
                <a:cs typeface="Cambria" pitchFamily="34" charset="-120"/>
              </a:rPr>
              <a:t>12 genes</a:t>
            </a:r>
            <a:pPr indent="0" marL="0">
              <a:lnSpc>
                <a:spcPct val="122000"/>
              </a:lnSpc>
              <a:buNone/>
            </a:pPr>
            <a:r>
              <a:rPr lang="en-US" sz="1200" dirty="0">
                <a:solidFill>
                  <a:srgbClr val="C3C2B7"/>
                </a:solidFill>
                <a:latin typeface="Calibri" pitchFamily="34" charset="0"/>
                <a:ea typeface="Calibri" pitchFamily="34" charset="-122"/>
                <a:cs typeface="Calibri" pitchFamily="34" charset="-120"/>
              </a:rPr>
              <a:t> con acuerdo de signo perfecto entre folds solapados,   </a:t>
            </a:r>
            <a:pPr indent="0" marL="0">
              <a:lnSpc>
                <a:spcPct val="122000"/>
              </a:lnSpc>
              <a:buNone/>
            </a:pPr>
            <a:r>
              <a:rPr lang="en-US" sz="1700" b="1" dirty="0">
                <a:solidFill>
                  <a:srgbClr val="D03B3B"/>
                </a:solidFill>
                <a:latin typeface="Cambria" pitchFamily="34" charset="0"/>
                <a:ea typeface="Cambria" pitchFamily="34" charset="-122"/>
                <a:cs typeface="Cambria" pitchFamily="34" charset="-120"/>
              </a:rPr>
              <a:t>0</a:t>
            </a:r>
            <a:pPr indent="0" marL="0">
              <a:lnSpc>
                <a:spcPct val="122000"/>
              </a:lnSpc>
              <a:buNone/>
            </a:pPr>
            <a:r>
              <a:rPr lang="en-US" sz="1200" dirty="0">
                <a:solidFill>
                  <a:srgbClr val="C3C2B7"/>
                </a:solidFill>
                <a:latin typeface="Calibri" pitchFamily="34" charset="0"/>
                <a:ea typeface="Calibri" pitchFamily="34" charset="-122"/>
                <a:cs typeface="Calibri" pitchFamily="34" charset="-120"/>
              </a:rPr>
              <a:t> entre las 8 cohortes disjuntas.</a:t>
            </a:r>
            <a:pPr indent="0" marL="0">
              <a:lnSpc>
                <a:spcPct val="122000"/>
              </a:lnSpc>
              <a:buNone/>
            </a:pPr>
            <a:endParaRPr lang="en-US" sz="1700" dirty="0"/>
          </a:p>
          <a:p>
            <a:pPr indent="0" marL="0">
              <a:lnSpc>
                <a:spcPct val="122000"/>
              </a:lnSpc>
              <a:buNone/>
            </a:pPr>
            <a:endParaRPr lang="en-US" sz="1700" dirty="0"/>
          </a:p>
          <a:p>
            <a:pPr indent="0" marL="0">
              <a:lnSpc>
                <a:spcPct val="122000"/>
              </a:lnSpc>
              <a:buNone/>
            </a:pPr>
            <a:r>
              <a:rPr lang="en-US" sz="1150" dirty="0">
                <a:solidFill>
                  <a:srgbClr val="C3C2B7"/>
                </a:solidFill>
                <a:latin typeface="Calibri" pitchFamily="34" charset="0"/>
                <a:ea typeface="Calibri" pitchFamily="34" charset="-122"/>
                <a:cs typeface="Calibri" pitchFamily="34" charset="-120"/>
              </a:rPr>
              <a:t>Ninguno de los siete genes destacados en la memoria previa —SLC6A4, S100A10, KANK3, SH3GL3, HIST1H2BM, ZNF702P, TOX3— replica al ajustar modelos independientes.</a:t>
            </a:r>
            <a:endParaRPr lang="en-US" sz="1700" dirty="0"/>
          </a:p>
        </p:txBody>
      </p:sp>
      <p:sp>
        <p:nvSpPr>
          <p:cNvPr id="11" name="Text 8"/>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Control del tamaño de muestra: parejas de entrenamiento comparables, 100,0 % con solapamiento frente a 77,33 % sin él. La caída no es artefacto de esparsidad del LASSO.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V  ·  CONTROL POSITIVO</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¿Mide mal el marco, o no había señal que medir?</a:t>
            </a:r>
            <a:endParaRPr lang="en-US" sz="3200" dirty="0"/>
          </a:p>
        </p:txBody>
      </p:sp>
      <p:sp>
        <p:nvSpPr>
          <p:cNvPr id="4" name="Text 2"/>
          <p:cNvSpPr/>
          <p:nvPr/>
        </p:nvSpPr>
        <p:spPr>
          <a:xfrm>
            <a:off x="658368" y="1737360"/>
            <a:ext cx="5943600" cy="1005840"/>
          </a:xfrm>
          <a:prstGeom prst="rect">
            <a:avLst/>
          </a:prstGeom>
          <a:noFill/>
          <a:ln/>
        </p:spPr>
        <p:txBody>
          <a:bodyPr wrap="square" lIns="0" tIns="0" rIns="0" bIns="0" rtlCol="0" anchor="ctr"/>
          <a:lstStyle/>
          <a:p>
            <a:pPr indent="0" marL="0">
              <a:lnSpc>
                <a:spcPct val="130000"/>
              </a:lnSpc>
              <a:buNone/>
            </a:pPr>
            <a:r>
              <a:rPr lang="en-US" sz="1350" dirty="0">
                <a:solidFill>
                  <a:srgbClr val="52514E"/>
                </a:solidFill>
                <a:latin typeface="Calibri" pitchFamily="34" charset="0"/>
                <a:ea typeface="Calibri" pitchFamily="34" charset="-122"/>
                <a:cs typeface="Calibri" pitchFamily="34" charset="-120"/>
              </a:rPr>
              <a:t>Se aplicó el mismo pipeline a una pregunta con respuesta conocida y consecuencia terapéutica: adenocarcinoma frente a carcinoma escamoso. Pemetrexed y bevacizumab están contraindicados en histología escamosa.</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2926080"/>
          <a:ext cx="5943600" cy="914400"/>
        </p:xfrm>
        <a:graphic>
          <a:graphicData uri="http://schemas.openxmlformats.org/drawingml/2006/table">
            <a:tbl>
              <a:tblPr/>
              <a:tblGrid>
                <a:gridCol w="1554480"/>
                <a:gridCol w="822960"/>
                <a:gridCol w="1188720"/>
                <a:gridCol w="1188720"/>
                <a:gridCol w="11887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Cohorte test</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Bal. acc.</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AUC</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1A1D21"/>
                    </a:solidFill>
                  </a:tcPr>
                </a:tc>
              </a:tr>
              <a:tr h="292608">
                <a:tc>
                  <a:txBody>
                    <a:bodyPr/>
                    <a:lstStyle/>
                    <a:p>
                      <a:pPr indent="0" marL="0">
                        <a:buNone/>
                      </a:pPr>
                      <a:r>
                        <a:rPr lang="en-US" sz="1150" dirty="0">
                          <a:solidFill>
                            <a:srgbClr val="1A1D21"/>
                          </a:solidFill>
                          <a:latin typeface="Calibri" pitchFamily="34" charset="0"/>
                          <a:ea typeface="Calibri" pitchFamily="34" charset="-122"/>
                          <a:cs typeface="Calibri" pitchFamily="34" charset="-120"/>
                        </a:rPr>
                        <a:t>GSE30219</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146</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0,582</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b="1" dirty="0">
                          <a:solidFill>
                            <a:srgbClr val="1A1D21"/>
                          </a:solidFill>
                          <a:latin typeface="Calibri" pitchFamily="34" charset="0"/>
                          <a:ea typeface="Calibri" pitchFamily="34" charset="-122"/>
                          <a:cs typeface="Calibri" pitchFamily="34" charset="-120"/>
                        </a:rPr>
                        <a:t>0,967</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0,996</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r h="292608">
                <a:tc>
                  <a:txBody>
                    <a:bodyPr/>
                    <a:lstStyle/>
                    <a:p>
                      <a:pPr indent="0" marL="0">
                        <a:buNone/>
                      </a:pPr>
                      <a:r>
                        <a:rPr lang="en-US" sz="1150" dirty="0">
                          <a:solidFill>
                            <a:srgbClr val="1A1D21"/>
                          </a:solidFill>
                          <a:latin typeface="Calibri" pitchFamily="34" charset="0"/>
                          <a:ea typeface="Calibri" pitchFamily="34" charset="-122"/>
                          <a:cs typeface="Calibri" pitchFamily="34" charset="-120"/>
                        </a:rPr>
                        <a:t>GSE50081</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170</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0,747</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150" b="1" dirty="0">
                          <a:solidFill>
                            <a:srgbClr val="1A1D21"/>
                          </a:solidFill>
                          <a:latin typeface="Calibri" pitchFamily="34" charset="0"/>
                          <a:ea typeface="Calibri" pitchFamily="34" charset="-122"/>
                          <a:cs typeface="Calibri" pitchFamily="34" charset="-120"/>
                        </a:rPr>
                        <a:t>0,887</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0,911</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1F0EC"/>
                    </a:solidFill>
                  </a:tcPr>
                </a:tc>
              </a:tr>
              <a:tr h="292608">
                <a:tc>
                  <a:txBody>
                    <a:bodyPr/>
                    <a:lstStyle/>
                    <a:p>
                      <a:pPr indent="0" marL="0">
                        <a:buNone/>
                      </a:pPr>
                      <a:r>
                        <a:rPr lang="en-US" sz="1150" dirty="0">
                          <a:solidFill>
                            <a:srgbClr val="1A1D21"/>
                          </a:solidFill>
                          <a:latin typeface="Calibri" pitchFamily="34" charset="0"/>
                          <a:ea typeface="Calibri" pitchFamily="34" charset="-122"/>
                          <a:cs typeface="Calibri" pitchFamily="34" charset="-120"/>
                        </a:rPr>
                        <a:t>GSE19188</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72</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dirty="0">
                          <a:solidFill>
                            <a:srgbClr val="52514E"/>
                          </a:solidFill>
                          <a:latin typeface="Calibri" pitchFamily="34" charset="0"/>
                          <a:ea typeface="Calibri" pitchFamily="34" charset="-122"/>
                          <a:cs typeface="Calibri" pitchFamily="34" charset="-120"/>
                        </a:rPr>
                        <a:t>0,625</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b="1" dirty="0">
                          <a:solidFill>
                            <a:srgbClr val="1A1D21"/>
                          </a:solidFill>
                          <a:latin typeface="Calibri" pitchFamily="34" charset="0"/>
                          <a:ea typeface="Calibri" pitchFamily="34" charset="-122"/>
                          <a:cs typeface="Calibri" pitchFamily="34" charset="-120"/>
                        </a:rPr>
                        <a:t>0,967</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c>
                  <a:txBody>
                    <a:bodyPr/>
                    <a:lstStyle/>
                    <a:p>
                      <a:pPr algn="r" indent="0" marL="0">
                        <a:buNone/>
                      </a:pPr>
                      <a:r>
                        <a:rPr lang="en-US" sz="1150" b="1" dirty="0">
                          <a:solidFill>
                            <a:srgbClr val="2A78D6"/>
                          </a:solidFill>
                          <a:latin typeface="Calibri" pitchFamily="34" charset="0"/>
                          <a:ea typeface="Calibri" pitchFamily="34" charset="-122"/>
                          <a:cs typeface="Calibri" pitchFamily="34" charset="-120"/>
                        </a:rPr>
                        <a:t>0,998</a:t>
                      </a:r>
                      <a:endParaRPr lang="en-US" sz="1150" dirty="0">
                        <a:latin typeface="Calibri" charset="0"/>
                        <a:ea typeface="Calibri" charset="0"/>
                        <a:cs typeface="Calibri" charset="0"/>
                      </a:endParaRPr>
                    </a:p>
                  </a:txBody>
                  <a:tcPr marL="91440" marR="91440" marT="45720" marB="45720" anchor="ctr">
                    <a:lnL w="6350" cap="flat" cmpd="sng" algn="ctr">
                      <a:solidFill>
                        <a:srgbClr val="E4E3DE"/>
                      </a:solidFill>
                      <a:prstDash val="solid"/>
                      <a:round/>
                      <a:headEnd type="none" w="med" len="med"/>
                      <a:tailEnd type="none" w="med" len="med"/>
                    </a:lnL>
                    <a:lnR w="6350" cap="flat" cmpd="sng" algn="ctr">
                      <a:solidFill>
                        <a:srgbClr val="E4E3DE"/>
                      </a:solidFill>
                      <a:prstDash val="solid"/>
                      <a:round/>
                      <a:headEnd type="none" w="med" len="med"/>
                      <a:tailEnd type="none" w="med" len="med"/>
                    </a:lnR>
                    <a:lnT w="6350" cap="flat" cmpd="sng" algn="ctr">
                      <a:solidFill>
                        <a:srgbClr val="E4E3DE"/>
                      </a:solidFill>
                      <a:prstDash val="solid"/>
                      <a:round/>
                      <a:headEnd type="none" w="med" len="med"/>
                      <a:tailEnd type="none" w="med" len="med"/>
                    </a:lnT>
                    <a:lnB w="6350" cap="flat" cmpd="sng" algn="ctr">
                      <a:solidFill>
                        <a:srgbClr val="E4E3DE"/>
                      </a:solidFill>
                      <a:prstDash val="solid"/>
                      <a:round/>
                      <a:headEnd type="none" w="med" len="med"/>
                      <a:tailEnd type="none" w="med" len="med"/>
                    </a:lnB>
                    <a:solidFill>
                      <a:srgbClr val="FCFCFB"/>
                    </a:solidFill>
                  </a:tcPr>
                </a:tc>
              </a:tr>
            </a:tbl>
          </a:graphicData>
        </a:graphic>
      </p:graphicFrame>
      <p:sp>
        <p:nvSpPr>
          <p:cNvPr id="6" name="Shape 3"/>
          <p:cNvSpPr/>
          <p:nvPr/>
        </p:nvSpPr>
        <p:spPr>
          <a:xfrm>
            <a:off x="6949440" y="1737360"/>
            <a:ext cx="4553712" cy="4114800"/>
          </a:xfrm>
          <a:prstGeom prst="roundRect">
            <a:avLst>
              <a:gd name="adj" fmla="val 1333"/>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7" name="Text 4"/>
          <p:cNvSpPr/>
          <p:nvPr/>
        </p:nvSpPr>
        <p:spPr>
          <a:xfrm>
            <a:off x="7260336" y="1975104"/>
            <a:ext cx="3931920" cy="256032"/>
          </a:xfrm>
          <a:prstGeom prst="rect">
            <a:avLst/>
          </a:prstGeom>
          <a:noFill/>
          <a:ln/>
        </p:spPr>
        <p:txBody>
          <a:bodyPr wrap="square" lIns="0" tIns="0" rIns="0" bIns="0" rtlCol="0" anchor="ctr"/>
          <a:lstStyle/>
          <a:p>
            <a:pPr indent="0" marL="0">
              <a:buNone/>
            </a:pPr>
            <a:r>
              <a:rPr lang="en-US" sz="950" b="1" spc="150" kern="0" dirty="0">
                <a:solidFill>
                  <a:srgbClr val="898781"/>
                </a:solidFill>
                <a:latin typeface="Calibri" pitchFamily="34" charset="0"/>
                <a:ea typeface="Calibri" pitchFamily="34" charset="-122"/>
                <a:cs typeface="Calibri" pitchFamily="34" charset="-120"/>
              </a:rPr>
              <a:t>VALIDACIÓN DE CONTENIDO</a:t>
            </a:r>
            <a:endParaRPr lang="en-US" sz="950" dirty="0"/>
          </a:p>
        </p:txBody>
      </p:sp>
      <p:sp>
        <p:nvSpPr>
          <p:cNvPr id="8" name="Text 5"/>
          <p:cNvSpPr/>
          <p:nvPr/>
        </p:nvSpPr>
        <p:spPr>
          <a:xfrm>
            <a:off x="7260336" y="2322576"/>
            <a:ext cx="3931920" cy="713232"/>
          </a:xfrm>
          <a:prstGeom prst="rect">
            <a:avLst/>
          </a:prstGeom>
          <a:noFill/>
          <a:ln/>
        </p:spPr>
        <p:txBody>
          <a:bodyPr wrap="square" lIns="0" tIns="0" rIns="0" bIns="0" rtlCol="0" anchor="t"/>
          <a:lstStyle/>
          <a:p>
            <a:pPr indent="0" marL="0">
              <a:buNone/>
            </a:pPr>
            <a:r>
              <a:rPr lang="en-US" sz="3800" b="1" dirty="0">
                <a:solidFill>
                  <a:srgbClr val="2A78D6"/>
                </a:solidFill>
                <a:latin typeface="Cambria" pitchFamily="34" charset="0"/>
                <a:ea typeface="Cambria" pitchFamily="34" charset="-122"/>
                <a:cs typeface="Cambria" pitchFamily="34" charset="-120"/>
              </a:rPr>
              <a:t>12 / 12</a:t>
            </a:r>
            <a:endParaRPr lang="en-US" sz="3800" dirty="0"/>
          </a:p>
        </p:txBody>
      </p:sp>
      <p:sp>
        <p:nvSpPr>
          <p:cNvPr id="9" name="Text 6"/>
          <p:cNvSpPr/>
          <p:nvPr/>
        </p:nvSpPr>
        <p:spPr>
          <a:xfrm>
            <a:off x="7260336" y="3017520"/>
            <a:ext cx="3931920" cy="420624"/>
          </a:xfrm>
          <a:prstGeom prst="rect">
            <a:avLst/>
          </a:prstGeom>
          <a:noFill/>
          <a:ln/>
        </p:spPr>
        <p:txBody>
          <a:bodyPr wrap="square" lIns="0" tIns="0" rIns="0" bIns="0" rtlCol="0" anchor="t"/>
          <a:lstStyle/>
          <a:p>
            <a:pPr indent="0" marL="0">
              <a:buNone/>
            </a:pPr>
            <a:r>
              <a:rPr lang="en-US" sz="1100" dirty="0">
                <a:solidFill>
                  <a:srgbClr val="52514E"/>
                </a:solidFill>
                <a:latin typeface="Calibri" pitchFamily="34" charset="0"/>
                <a:ea typeface="Calibri" pitchFamily="34" charset="-122"/>
                <a:cs typeface="Calibri" pitchFamily="34" charset="-120"/>
              </a:rPr>
              <a:t>marcadores de inmunohistoquímica diagnóstica recuperados, todos en la dirección correcta</a:t>
            </a:r>
            <a:endParaRPr lang="en-US" sz="1100" dirty="0"/>
          </a:p>
        </p:txBody>
      </p:sp>
      <p:sp>
        <p:nvSpPr>
          <p:cNvPr id="10" name="Text 7"/>
          <p:cNvSpPr/>
          <p:nvPr/>
        </p:nvSpPr>
        <p:spPr>
          <a:xfrm>
            <a:off x="7260336" y="3931920"/>
            <a:ext cx="3931920" cy="1170432"/>
          </a:xfrm>
          <a:prstGeom prst="rect">
            <a:avLst/>
          </a:prstGeom>
          <a:noFill/>
          <a:ln/>
        </p:spPr>
        <p:txBody>
          <a:bodyPr wrap="square" lIns="0" tIns="0" rIns="0" bIns="0" rtlCol="0" anchor="t"/>
          <a:lstStyle/>
          <a:p>
            <a:pPr indent="0" marL="0">
              <a:lnSpc>
                <a:spcPct val="124000"/>
              </a:lnSpc>
              <a:buNone/>
            </a:pPr>
            <a:r>
              <a:rPr lang="en-US" sz="1200" b="1" dirty="0">
                <a:solidFill>
                  <a:srgbClr val="1A1D21"/>
                </a:solidFill>
                <a:latin typeface="Calibri" pitchFamily="34" charset="0"/>
                <a:ea typeface="Calibri" pitchFamily="34" charset="-122"/>
                <a:cs typeface="Calibri" pitchFamily="34" charset="-120"/>
              </a:rPr>
              <a:t>Escamoso</a:t>
            </a:r>
            <a:pPr indent="0" marL="0">
              <a:lnSpc>
                <a:spcPct val="124000"/>
              </a:lnSpc>
              <a:buNone/>
            </a:pPr>
            <a:r>
              <a:rPr lang="en-US" sz="1150" dirty="0">
                <a:solidFill>
                  <a:srgbClr val="52514E"/>
                </a:solidFill>
                <a:latin typeface="Calibri" pitchFamily="34" charset="0"/>
                <a:ea typeface="Calibri" pitchFamily="34" charset="-122"/>
                <a:cs typeface="Calibri" pitchFamily="34" charset="-120"/>
              </a:rPr>
              <a:t>   KRT5 · KRT6A · TP63 · DSG3 · SOX2 · PKP1 · KRT14</a:t>
            </a:r>
            <a:pPr indent="0" marL="0">
              <a:lnSpc>
                <a:spcPct val="124000"/>
              </a:lnSpc>
              <a:buNone/>
            </a:pPr>
            <a:endParaRPr lang="en-US" sz="1200" dirty="0"/>
          </a:p>
          <a:p>
            <a:pPr indent="0" marL="0">
              <a:lnSpc>
                <a:spcPct val="124000"/>
              </a:lnSpc>
              <a:buNone/>
            </a:pPr>
            <a:endParaRPr lang="en-US" sz="1200" dirty="0"/>
          </a:p>
          <a:p>
            <a:pPr indent="0" marL="0">
              <a:lnSpc>
                <a:spcPct val="124000"/>
              </a:lnSpc>
              <a:buNone/>
            </a:pPr>
            <a:r>
              <a:rPr lang="en-US" sz="1200" b="1" dirty="0">
                <a:solidFill>
                  <a:srgbClr val="1A1D21"/>
                </a:solidFill>
                <a:latin typeface="Calibri" pitchFamily="34" charset="0"/>
                <a:ea typeface="Calibri" pitchFamily="34" charset="-122"/>
                <a:cs typeface="Calibri" pitchFamily="34" charset="-120"/>
              </a:rPr>
              <a:t>Adenocarcinoma</a:t>
            </a:r>
            <a:endParaRPr lang="en-US" sz="1200" dirty="0"/>
          </a:p>
          <a:p>
            <a:pPr indent="0" marL="0">
              <a:lnSpc>
                <a:spcPct val="124000"/>
              </a:lnSpc>
              <a:buNone/>
            </a:pPr>
            <a:r>
              <a:rPr lang="en-US" sz="1150" dirty="0">
                <a:solidFill>
                  <a:srgbClr val="52514E"/>
                </a:solidFill>
                <a:latin typeface="Calibri" pitchFamily="34" charset="0"/>
                <a:ea typeface="Calibri" pitchFamily="34" charset="-122"/>
                <a:cs typeface="Calibri" pitchFamily="34" charset="-120"/>
              </a:rPr>
              <a:t>   NAPSA · NKX2-1 · SFTPB · SLC34A2 · MUC1</a:t>
            </a:r>
            <a:endParaRPr lang="en-US" sz="1200" dirty="0"/>
          </a:p>
        </p:txBody>
      </p:sp>
      <p:sp>
        <p:nvSpPr>
          <p:cNvPr id="11" name="Text 8"/>
          <p:cNvSpPr/>
          <p:nvPr/>
        </p:nvSpPr>
        <p:spPr>
          <a:xfrm>
            <a:off x="7260336" y="5212080"/>
            <a:ext cx="3931920" cy="603504"/>
          </a:xfrm>
          <a:prstGeom prst="rect">
            <a:avLst/>
          </a:prstGeom>
          <a:noFill/>
          <a:ln/>
        </p:spPr>
        <p:txBody>
          <a:bodyPr wrap="square" lIns="0" tIns="0" rIns="0" bIns="0" rtlCol="0" anchor="ctr"/>
          <a:lstStyle/>
          <a:p>
            <a:pPr indent="0" marL="0">
              <a:lnSpc>
                <a:spcPct val="120000"/>
              </a:lnSpc>
              <a:buNone/>
            </a:pPr>
            <a:r>
              <a:rPr lang="en-US" sz="1100" dirty="0">
                <a:solidFill>
                  <a:srgbClr val="52514E"/>
                </a:solidFill>
                <a:latin typeface="Calibri" pitchFamily="34" charset="0"/>
                <a:ea typeface="Calibri" pitchFamily="34" charset="-122"/>
                <a:cs typeface="Calibri" pitchFamily="34" charset="-120"/>
              </a:rPr>
              <a:t>El top del ranking —DSG3, KRT5, CALML3, KRT6B, PKP1, DSC3, TP63— corresponde a desmosomas, queratinas y el programa de TP63: linaje celular, no composición.</a:t>
            </a:r>
            <a:endParaRPr lang="en-US" sz="1100" dirty="0"/>
          </a:p>
        </p:txBody>
      </p:sp>
      <p:sp>
        <p:nvSpPr>
          <p:cNvPr id="12" name="Text 9"/>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Alcance: esta distinción está bien caracterizada en la literatura y no es un hallazgo original. Su valor aquí es de control positivo — y fue el análisis que reveló el desalineamiento de GSE30219.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RESULTADO V  ·  LÍMITES DEL CONTROL POSITIVO</a:t>
            </a:r>
            <a:endParaRPr lang="en-US" sz="1000" dirty="0"/>
          </a:p>
        </p:txBody>
      </p:sp>
      <p:sp>
        <p:nvSpPr>
          <p:cNvPr id="3" name="Text 1"/>
          <p:cNvSpPr/>
          <p:nvPr/>
        </p:nvSpPr>
        <p:spPr>
          <a:xfrm>
            <a:off x="658368" y="420624"/>
            <a:ext cx="8686800"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El control positivo excluyó los casos difíciles</a:t>
            </a:r>
            <a:endParaRPr lang="en-US" sz="3200" dirty="0"/>
          </a:p>
        </p:txBody>
      </p:sp>
      <p:sp>
        <p:nvSpPr>
          <p:cNvPr id="4" name="Text 2"/>
          <p:cNvSpPr/>
          <p:nvPr/>
        </p:nvSpPr>
        <p:spPr>
          <a:xfrm>
            <a:off x="9692640" y="566928"/>
            <a:ext cx="1737360" cy="237744"/>
          </a:xfrm>
          <a:prstGeom prst="rect">
            <a:avLst/>
          </a:prstGeom>
          <a:noFill/>
          <a:ln/>
        </p:spPr>
        <p:txBody>
          <a:bodyPr wrap="square" lIns="0" tIns="0" rIns="0" bIns="0" rtlCol="0" anchor="ctr"/>
          <a:lstStyle/>
          <a:p>
            <a:pPr indent="0" marL="0">
              <a:buNone/>
            </a:pPr>
            <a:r>
              <a:rPr lang="en-US" sz="950" b="1" spc="140" kern="0" dirty="0">
                <a:solidFill>
                  <a:srgbClr val="D03B3B"/>
                </a:solidFill>
                <a:latin typeface="Calibri" pitchFamily="34" charset="0"/>
                <a:ea typeface="Calibri" pitchFamily="34" charset="-122"/>
                <a:cs typeface="Calibri" pitchFamily="34" charset="-120"/>
              </a:rPr>
              <a:t>NO CONFIRMADA</a:t>
            </a:r>
            <a:endParaRPr lang="en-US" sz="950" dirty="0"/>
          </a:p>
        </p:txBody>
      </p:sp>
      <p:pic>
        <p:nvPicPr>
          <p:cNvPr id="5" name="Image 0" descr="/Users/danieltapiadiez/Desktop/UAX/TFM/figuras_auditoria/fig_histologias_excluidas.png">    </p:cNvPr>
          <p:cNvPicPr>
            <a:picLocks noChangeAspect="1"/>
          </p:cNvPicPr>
          <p:nvPr/>
        </p:nvPicPr>
        <p:blipFill>
          <a:blip r:embed="rId1"/>
          <a:stretch>
            <a:fillRect/>
          </a:stretch>
        </p:blipFill>
        <p:spPr>
          <a:xfrm>
            <a:off x="658368" y="1783080"/>
            <a:ext cx="6035040" cy="4403650"/>
          </a:xfrm>
          <a:prstGeom prst="rect">
            <a:avLst/>
          </a:prstGeom>
        </p:spPr>
      </p:pic>
      <p:sp>
        <p:nvSpPr>
          <p:cNvPr id="6" name="Text 3"/>
          <p:cNvSpPr/>
          <p:nvPr/>
        </p:nvSpPr>
        <p:spPr>
          <a:xfrm>
            <a:off x="7406640" y="1810512"/>
            <a:ext cx="4096512" cy="1005840"/>
          </a:xfrm>
          <a:prstGeom prst="rect">
            <a:avLst/>
          </a:prstGeom>
          <a:noFill/>
          <a:ln/>
        </p:spPr>
        <p:txBody>
          <a:bodyPr wrap="square" lIns="0" tIns="0" rIns="0" bIns="0" rtlCol="0" anchor="ctr"/>
          <a:lstStyle/>
          <a:p>
            <a:pPr indent="0" marL="0">
              <a:lnSpc>
                <a:spcPct val="126000"/>
              </a:lnSpc>
              <a:buNone/>
            </a:pPr>
            <a:r>
              <a:rPr lang="en-US" sz="1250" dirty="0">
                <a:solidFill>
                  <a:srgbClr val="52514E"/>
                </a:solidFill>
                <a:latin typeface="Calibri" pitchFamily="34" charset="0"/>
                <a:ea typeface="Calibri" pitchFamily="34" charset="-122"/>
                <a:cs typeface="Calibri" pitchFamily="34" charset="-120"/>
              </a:rPr>
              <a:t>El resultado anterior excluyó 177 muestras, el 31,3 % de los tumores disponibles: precisamente las histologías que en la práctica clínica resultan ambiguas.</a:t>
            </a:r>
            <a:endParaRPr lang="en-US" sz="1250" dirty="0"/>
          </a:p>
        </p:txBody>
      </p:sp>
      <p:sp>
        <p:nvSpPr>
          <p:cNvPr id="7" name="Text 4"/>
          <p:cNvSpPr/>
          <p:nvPr/>
        </p:nvSpPr>
        <p:spPr>
          <a:xfrm>
            <a:off x="7406640" y="2926080"/>
            <a:ext cx="4096512" cy="1097280"/>
          </a:xfrm>
          <a:prstGeom prst="rect">
            <a:avLst/>
          </a:prstGeom>
          <a:noFill/>
          <a:ln/>
        </p:spPr>
        <p:txBody>
          <a:bodyPr wrap="square" lIns="0" tIns="0" rIns="0" bIns="0" rtlCol="0" anchor="ctr"/>
          <a:lstStyle/>
          <a:p>
            <a:pPr indent="0" marL="0">
              <a:lnSpc>
                <a:spcPct val="126000"/>
              </a:lnSpc>
              <a:buNone/>
            </a:pPr>
            <a:r>
              <a:rPr lang="en-US" sz="1250" dirty="0">
                <a:solidFill>
                  <a:srgbClr val="52514E"/>
                </a:solidFill>
                <a:latin typeface="Calibri" pitchFamily="34" charset="0"/>
                <a:ea typeface="Calibri" pitchFamily="34" charset="-122"/>
                <a:cs typeface="Calibri" pitchFamily="34" charset="-120"/>
              </a:rPr>
              <a:t>Hipótesis: más del 50 % recibiría asignación de alta confianza. Obtenido: 29,4 %, frente al 63,1 % de las histologías vistas. El modelo es más prudente de lo previsto.</a:t>
            </a:r>
            <a:endParaRPr lang="en-US" sz="1250" dirty="0"/>
          </a:p>
        </p:txBody>
      </p:sp>
      <p:sp>
        <p:nvSpPr>
          <p:cNvPr id="8" name="Shape 5"/>
          <p:cNvSpPr/>
          <p:nvPr/>
        </p:nvSpPr>
        <p:spPr>
          <a:xfrm>
            <a:off x="7406640" y="4078224"/>
            <a:ext cx="4096512" cy="2011680"/>
          </a:xfrm>
          <a:prstGeom prst="roundRect">
            <a:avLst>
              <a:gd name="adj" fmla="val 2727"/>
            </a:avLst>
          </a:prstGeom>
          <a:solidFill>
            <a:srgbClr val="1A1D21"/>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9" name="Text 6"/>
          <p:cNvSpPr/>
          <p:nvPr/>
        </p:nvSpPr>
        <p:spPr>
          <a:xfrm>
            <a:off x="7699248" y="4297680"/>
            <a:ext cx="3566160" cy="1700784"/>
          </a:xfrm>
          <a:prstGeom prst="rect">
            <a:avLst/>
          </a:prstGeom>
          <a:noFill/>
          <a:ln/>
        </p:spPr>
        <p:txBody>
          <a:bodyPr wrap="square" lIns="0" tIns="0" rIns="0" bIns="0" rtlCol="0" anchor="t"/>
          <a:lstStyle/>
          <a:p>
            <a:pPr indent="0" marL="0">
              <a:lnSpc>
                <a:spcPct val="120000"/>
              </a:lnSpc>
              <a:buNone/>
            </a:pPr>
            <a:r>
              <a:rPr lang="en-US" sz="3000" b="1" dirty="0">
                <a:solidFill>
                  <a:srgbClr val="D03B3B"/>
                </a:solidFill>
                <a:latin typeface="Cambria" pitchFamily="34" charset="0"/>
                <a:ea typeface="Cambria" pitchFamily="34" charset="-122"/>
                <a:cs typeface="Cambria" pitchFamily="34" charset="-120"/>
              </a:rPr>
              <a:t>92 %</a:t>
            </a:r>
            <a:pPr indent="0" marL="0">
              <a:lnSpc>
                <a:spcPct val="120000"/>
              </a:lnSpc>
              <a:buNone/>
            </a:pPr>
            <a:endParaRPr lang="en-US" sz="3000" dirty="0"/>
          </a:p>
          <a:p>
            <a:pPr indent="0" marL="0">
              <a:lnSpc>
                <a:spcPct val="120000"/>
              </a:lnSpc>
              <a:buNone/>
            </a:pPr>
            <a:r>
              <a:rPr lang="en-US" sz="1150" dirty="0">
                <a:solidFill>
                  <a:srgbClr val="C3C2B7"/>
                </a:solidFill>
                <a:latin typeface="Calibri" pitchFamily="34" charset="0"/>
                <a:ea typeface="Calibri" pitchFamily="34" charset="-122"/>
                <a:cs typeface="Calibri" pitchFamily="34" charset="-120"/>
              </a:rPr>
              <a:t>de los 101 tumores neuroendocrinos se etiqueta como adenocarcinoma. El microcítico se trata de forma completamente distinta al NSCLC.</a:t>
            </a:r>
            <a:endParaRPr lang="en-US" sz="3000" dirty="0"/>
          </a:p>
        </p:txBody>
      </p:sp>
      <p:sp>
        <p:nvSpPr>
          <p:cNvPr id="10" name="Text 7"/>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El AUC de 0,968 solo es válido sobre tumores ya confirmados como adenocarcinoma o escamoso. El modelo no puede ser un primer filtro diagnóstico.</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APORTACIÓN METODOLÓGICA</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Seis controles, derivados de los seis fallos encontrados</a:t>
            </a:r>
            <a:endParaRPr lang="en-US" sz="2900" dirty="0"/>
          </a:p>
        </p:txBody>
      </p:sp>
      <p:sp>
        <p:nvSpPr>
          <p:cNvPr id="4" name="Shape 2"/>
          <p:cNvSpPr/>
          <p:nvPr/>
        </p:nvSpPr>
        <p:spPr>
          <a:xfrm>
            <a:off x="658368" y="1956816"/>
            <a:ext cx="420624" cy="420624"/>
          </a:xfrm>
          <a:prstGeom prst="ellipse">
            <a:avLst/>
          </a:prstGeom>
          <a:solidFill>
            <a:srgbClr val="262A30"/>
          </a:solidFill>
          <a:ln w="12700">
            <a:solidFill>
              <a:srgbClr val="2A78D6"/>
            </a:solidFill>
            <a:prstDash val="solid"/>
          </a:ln>
        </p:spPr>
      </p:sp>
      <p:sp>
        <p:nvSpPr>
          <p:cNvPr id="5" name="Text 3"/>
          <p:cNvSpPr/>
          <p:nvPr/>
        </p:nvSpPr>
        <p:spPr>
          <a:xfrm>
            <a:off x="658368" y="1956816"/>
            <a:ext cx="420624" cy="420624"/>
          </a:xfrm>
          <a:prstGeom prst="rect">
            <a:avLst/>
          </a:prstGeom>
          <a:noFill/>
          <a:ln/>
        </p:spPr>
        <p:txBody>
          <a:bodyPr wrap="square" lIns="0" tIns="0" rIns="0" bIns="0" rtlCol="0" anchor="ctr"/>
          <a:lstStyle/>
          <a:p>
            <a:pPr algn="ctr" indent="0" marL="0">
              <a:buNone/>
            </a:pPr>
            <a:r>
              <a:rPr lang="en-US" sz="1400" b="1" dirty="0">
                <a:solidFill>
                  <a:srgbClr val="2A78D6"/>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261872" y="1938528"/>
            <a:ext cx="4754880" cy="347472"/>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Alinear por identificador</a:t>
            </a:r>
            <a:endParaRPr lang="en-US" sz="1350" dirty="0"/>
          </a:p>
        </p:txBody>
      </p:sp>
      <p:sp>
        <p:nvSpPr>
          <p:cNvPr id="7" name="Text 5"/>
          <p:cNvSpPr/>
          <p:nvPr/>
        </p:nvSpPr>
        <p:spPr>
          <a:xfrm>
            <a:off x="1261872" y="2304288"/>
            <a:ext cx="4754880" cy="822960"/>
          </a:xfrm>
          <a:prstGeom prst="rect">
            <a:avLst/>
          </a:prstGeom>
          <a:noFill/>
          <a:ln/>
        </p:spPr>
        <p:txBody>
          <a:bodyPr wrap="square" lIns="0" tIns="0" rIns="0" bIns="0" rtlCol="0" anchor="t"/>
          <a:lstStyle/>
          <a:p>
            <a:pPr indent="0" marL="0">
              <a:lnSpc>
                <a:spcPct val="120000"/>
              </a:lnSpc>
              <a:buNone/>
            </a:pPr>
            <a:r>
              <a:rPr lang="en-US" sz="1100" dirty="0">
                <a:solidFill>
                  <a:srgbClr val="9AA7B8"/>
                </a:solidFill>
                <a:latin typeface="Calibri" pitchFamily="34" charset="0"/>
                <a:ea typeface="Calibri" pitchFamily="34" charset="-122"/>
                <a:cs typeface="Calibri" pitchFamily="34" charset="-120"/>
              </a:rPr>
              <a:t>Nunca por posición. La coincidencia de longitudes no implica coincidencia de orden.</a:t>
            </a:r>
            <a:endParaRPr lang="en-US" sz="1100" dirty="0"/>
          </a:p>
        </p:txBody>
      </p:sp>
      <p:sp>
        <p:nvSpPr>
          <p:cNvPr id="8" name="Shape 6"/>
          <p:cNvSpPr/>
          <p:nvPr/>
        </p:nvSpPr>
        <p:spPr>
          <a:xfrm>
            <a:off x="6236208" y="1956816"/>
            <a:ext cx="420624" cy="420624"/>
          </a:xfrm>
          <a:prstGeom prst="ellipse">
            <a:avLst/>
          </a:prstGeom>
          <a:solidFill>
            <a:srgbClr val="262A30"/>
          </a:solidFill>
          <a:ln w="12700">
            <a:solidFill>
              <a:srgbClr val="2A78D6"/>
            </a:solidFill>
            <a:prstDash val="solid"/>
          </a:ln>
        </p:spPr>
      </p:sp>
      <p:sp>
        <p:nvSpPr>
          <p:cNvPr id="9" name="Text 7"/>
          <p:cNvSpPr/>
          <p:nvPr/>
        </p:nvSpPr>
        <p:spPr>
          <a:xfrm>
            <a:off x="6236208" y="1956816"/>
            <a:ext cx="420624" cy="420624"/>
          </a:xfrm>
          <a:prstGeom prst="rect">
            <a:avLst/>
          </a:prstGeom>
          <a:noFill/>
          <a:ln/>
        </p:spPr>
        <p:txBody>
          <a:bodyPr wrap="square" lIns="0" tIns="0" rIns="0" bIns="0" rtlCol="0" anchor="ctr"/>
          <a:lstStyle/>
          <a:p>
            <a:pPr algn="ctr" indent="0" marL="0">
              <a:buNone/>
            </a:pPr>
            <a:r>
              <a:rPr lang="en-US" sz="1400" b="1" dirty="0">
                <a:solidFill>
                  <a:srgbClr val="2A78D6"/>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6839712" y="1938528"/>
            <a:ext cx="4754880" cy="347472"/>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Validar contra biología conocida</a:t>
            </a:r>
            <a:endParaRPr lang="en-US" sz="1350" dirty="0"/>
          </a:p>
        </p:txBody>
      </p:sp>
      <p:sp>
        <p:nvSpPr>
          <p:cNvPr id="11" name="Text 9"/>
          <p:cNvSpPr/>
          <p:nvPr/>
        </p:nvSpPr>
        <p:spPr>
          <a:xfrm>
            <a:off x="6839712" y="2304288"/>
            <a:ext cx="4754880" cy="822960"/>
          </a:xfrm>
          <a:prstGeom prst="rect">
            <a:avLst/>
          </a:prstGeom>
          <a:noFill/>
          <a:ln/>
        </p:spPr>
        <p:txBody>
          <a:bodyPr wrap="square" lIns="0" tIns="0" rIns="0" bIns="0" rtlCol="0" anchor="t"/>
          <a:lstStyle/>
          <a:p>
            <a:pPr indent="0" marL="0">
              <a:lnSpc>
                <a:spcPct val="120000"/>
              </a:lnSpc>
              <a:buNone/>
            </a:pPr>
            <a:r>
              <a:rPr lang="en-US" sz="1100" dirty="0">
                <a:solidFill>
                  <a:srgbClr val="9AA7B8"/>
                </a:solidFill>
                <a:latin typeface="Calibri" pitchFamily="34" charset="0"/>
                <a:ea typeface="Calibri" pitchFamily="34" charset="-122"/>
                <a:cs typeface="Calibri" pitchFamily="34" charset="-120"/>
              </a:rPr>
              <a:t>Un panel de marcadores de la patología funciona como control de integridad de los datos.</a:t>
            </a:r>
            <a:endParaRPr lang="en-US" sz="1100" dirty="0"/>
          </a:p>
        </p:txBody>
      </p:sp>
      <p:sp>
        <p:nvSpPr>
          <p:cNvPr id="12" name="Shape 10"/>
          <p:cNvSpPr/>
          <p:nvPr/>
        </p:nvSpPr>
        <p:spPr>
          <a:xfrm>
            <a:off x="658368" y="3383280"/>
            <a:ext cx="420624" cy="420624"/>
          </a:xfrm>
          <a:prstGeom prst="ellipse">
            <a:avLst/>
          </a:prstGeom>
          <a:solidFill>
            <a:srgbClr val="262A30"/>
          </a:solidFill>
          <a:ln w="12700">
            <a:solidFill>
              <a:srgbClr val="2A78D6"/>
            </a:solidFill>
            <a:prstDash val="solid"/>
          </a:ln>
        </p:spPr>
      </p:sp>
      <p:sp>
        <p:nvSpPr>
          <p:cNvPr id="13" name="Text 11"/>
          <p:cNvSpPr/>
          <p:nvPr/>
        </p:nvSpPr>
        <p:spPr>
          <a:xfrm>
            <a:off x="658368" y="3383280"/>
            <a:ext cx="420624" cy="420624"/>
          </a:xfrm>
          <a:prstGeom prst="rect">
            <a:avLst/>
          </a:prstGeom>
          <a:noFill/>
          <a:ln/>
        </p:spPr>
        <p:txBody>
          <a:bodyPr wrap="square" lIns="0" tIns="0" rIns="0" bIns="0" rtlCol="0" anchor="ctr"/>
          <a:lstStyle/>
          <a:p>
            <a:pPr algn="ctr" indent="0" marL="0">
              <a:buNone/>
            </a:pPr>
            <a:r>
              <a:rPr lang="en-US" sz="1400" b="1" dirty="0">
                <a:solidFill>
                  <a:srgbClr val="2A78D6"/>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1261872" y="3364992"/>
            <a:ext cx="4754880" cy="347472"/>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Reportar el baseline</a:t>
            </a:r>
            <a:endParaRPr lang="en-US" sz="1350" dirty="0"/>
          </a:p>
        </p:txBody>
      </p:sp>
      <p:sp>
        <p:nvSpPr>
          <p:cNvPr id="15" name="Text 13"/>
          <p:cNvSpPr/>
          <p:nvPr/>
        </p:nvSpPr>
        <p:spPr>
          <a:xfrm>
            <a:off x="1261872" y="3730752"/>
            <a:ext cx="4754880" cy="822960"/>
          </a:xfrm>
          <a:prstGeom prst="rect">
            <a:avLst/>
          </a:prstGeom>
          <a:noFill/>
          <a:ln/>
        </p:spPr>
        <p:txBody>
          <a:bodyPr wrap="square" lIns="0" tIns="0" rIns="0" bIns="0" rtlCol="0" anchor="t"/>
          <a:lstStyle/>
          <a:p>
            <a:pPr indent="0" marL="0">
              <a:lnSpc>
                <a:spcPct val="120000"/>
              </a:lnSpc>
              <a:buNone/>
            </a:pPr>
            <a:r>
              <a:rPr lang="en-US" sz="1100" dirty="0">
                <a:solidFill>
                  <a:srgbClr val="9AA7B8"/>
                </a:solidFill>
                <a:latin typeface="Calibri" pitchFamily="34" charset="0"/>
                <a:ea typeface="Calibri" pitchFamily="34" charset="-122"/>
                <a:cs typeface="Calibri" pitchFamily="34" charset="-120"/>
              </a:rPr>
              <a:t>Junto a toda métrica, y excluir explícitamente las cohortes de una sola clase.</a:t>
            </a:r>
            <a:endParaRPr lang="en-US" sz="1100" dirty="0"/>
          </a:p>
        </p:txBody>
      </p:sp>
      <p:sp>
        <p:nvSpPr>
          <p:cNvPr id="16" name="Shape 14"/>
          <p:cNvSpPr/>
          <p:nvPr/>
        </p:nvSpPr>
        <p:spPr>
          <a:xfrm>
            <a:off x="6236208" y="3383280"/>
            <a:ext cx="420624" cy="420624"/>
          </a:xfrm>
          <a:prstGeom prst="ellipse">
            <a:avLst/>
          </a:prstGeom>
          <a:solidFill>
            <a:srgbClr val="262A30"/>
          </a:solidFill>
          <a:ln w="12700">
            <a:solidFill>
              <a:srgbClr val="2A78D6"/>
            </a:solidFill>
            <a:prstDash val="solid"/>
          </a:ln>
        </p:spPr>
      </p:sp>
      <p:sp>
        <p:nvSpPr>
          <p:cNvPr id="17" name="Text 15"/>
          <p:cNvSpPr/>
          <p:nvPr/>
        </p:nvSpPr>
        <p:spPr>
          <a:xfrm>
            <a:off x="6236208" y="3383280"/>
            <a:ext cx="420624" cy="420624"/>
          </a:xfrm>
          <a:prstGeom prst="rect">
            <a:avLst/>
          </a:prstGeom>
          <a:noFill/>
          <a:ln/>
        </p:spPr>
        <p:txBody>
          <a:bodyPr wrap="square" lIns="0" tIns="0" rIns="0" bIns="0" rtlCol="0" anchor="ctr"/>
          <a:lstStyle/>
          <a:p>
            <a:pPr algn="ctr" indent="0" marL="0">
              <a:buNone/>
            </a:pPr>
            <a:r>
              <a:rPr lang="en-US" sz="1400" b="1" dirty="0">
                <a:solidFill>
                  <a:srgbClr val="2A78D6"/>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6839712" y="3364992"/>
            <a:ext cx="4754880" cy="347472"/>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Separar discriminación y decisión</a:t>
            </a:r>
            <a:endParaRPr lang="en-US" sz="1350" dirty="0"/>
          </a:p>
        </p:txBody>
      </p:sp>
      <p:sp>
        <p:nvSpPr>
          <p:cNvPr id="19" name="Text 17"/>
          <p:cNvSpPr/>
          <p:nvPr/>
        </p:nvSpPr>
        <p:spPr>
          <a:xfrm>
            <a:off x="6839712" y="3730752"/>
            <a:ext cx="4754880" cy="822960"/>
          </a:xfrm>
          <a:prstGeom prst="rect">
            <a:avLst/>
          </a:prstGeom>
          <a:noFill/>
          <a:ln/>
        </p:spPr>
        <p:txBody>
          <a:bodyPr wrap="square" lIns="0" tIns="0" rIns="0" bIns="0" rtlCol="0" anchor="t"/>
          <a:lstStyle/>
          <a:p>
            <a:pPr indent="0" marL="0">
              <a:lnSpc>
                <a:spcPct val="120000"/>
              </a:lnSpc>
              <a:buNone/>
            </a:pPr>
            <a:r>
              <a:rPr lang="en-US" sz="1100" dirty="0">
                <a:solidFill>
                  <a:srgbClr val="9AA7B8"/>
                </a:solidFill>
                <a:latin typeface="Calibri" pitchFamily="34" charset="0"/>
                <a:ea typeface="Calibri" pitchFamily="34" charset="-122"/>
                <a:cs typeface="Calibri" pitchFamily="34" charset="-120"/>
              </a:rPr>
              <a:t>AUC y balanced accuracy juntas; su divergencia delata la calibración.</a:t>
            </a:r>
            <a:endParaRPr lang="en-US" sz="1100" dirty="0"/>
          </a:p>
        </p:txBody>
      </p:sp>
      <p:sp>
        <p:nvSpPr>
          <p:cNvPr id="20" name="Shape 18"/>
          <p:cNvSpPr/>
          <p:nvPr/>
        </p:nvSpPr>
        <p:spPr>
          <a:xfrm>
            <a:off x="658368" y="4809744"/>
            <a:ext cx="420624" cy="420624"/>
          </a:xfrm>
          <a:prstGeom prst="ellipse">
            <a:avLst/>
          </a:prstGeom>
          <a:solidFill>
            <a:srgbClr val="262A30"/>
          </a:solidFill>
          <a:ln w="12700">
            <a:solidFill>
              <a:srgbClr val="2A78D6"/>
            </a:solidFill>
            <a:prstDash val="solid"/>
          </a:ln>
        </p:spPr>
      </p:sp>
      <p:sp>
        <p:nvSpPr>
          <p:cNvPr id="21" name="Text 19"/>
          <p:cNvSpPr/>
          <p:nvPr/>
        </p:nvSpPr>
        <p:spPr>
          <a:xfrm>
            <a:off x="658368" y="4809744"/>
            <a:ext cx="420624" cy="420624"/>
          </a:xfrm>
          <a:prstGeom prst="rect">
            <a:avLst/>
          </a:prstGeom>
          <a:noFill/>
          <a:ln/>
        </p:spPr>
        <p:txBody>
          <a:bodyPr wrap="square" lIns="0" tIns="0" rIns="0" bIns="0" rtlCol="0" anchor="ctr"/>
          <a:lstStyle/>
          <a:p>
            <a:pPr algn="ctr" indent="0" marL="0">
              <a:buNone/>
            </a:pPr>
            <a:r>
              <a:rPr lang="en-US" sz="1400" b="1" dirty="0">
                <a:solidFill>
                  <a:srgbClr val="2A78D6"/>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1261872" y="4791456"/>
            <a:ext cx="4754880" cy="347472"/>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Medir estabilidad en particiones disjuntas</a:t>
            </a:r>
            <a:endParaRPr lang="en-US" sz="1350" dirty="0"/>
          </a:p>
        </p:txBody>
      </p:sp>
      <p:sp>
        <p:nvSpPr>
          <p:cNvPr id="23" name="Text 21"/>
          <p:cNvSpPr/>
          <p:nvPr/>
        </p:nvSpPr>
        <p:spPr>
          <a:xfrm>
            <a:off x="1261872" y="5157216"/>
            <a:ext cx="4754880" cy="822960"/>
          </a:xfrm>
          <a:prstGeom prst="rect">
            <a:avLst/>
          </a:prstGeom>
          <a:noFill/>
          <a:ln/>
        </p:spPr>
        <p:txBody>
          <a:bodyPr wrap="square" lIns="0" tIns="0" rIns="0" bIns="0" rtlCol="0" anchor="t"/>
          <a:lstStyle/>
          <a:p>
            <a:pPr indent="0" marL="0">
              <a:lnSpc>
                <a:spcPct val="120000"/>
              </a:lnSpc>
              <a:buNone/>
            </a:pPr>
            <a:r>
              <a:rPr lang="en-US" sz="1100" dirty="0">
                <a:solidFill>
                  <a:srgbClr val="9AA7B8"/>
                </a:solidFill>
                <a:latin typeface="Calibri" pitchFamily="34" charset="0"/>
                <a:ea typeface="Calibri" pitchFamily="34" charset="-122"/>
                <a:cs typeface="Calibri" pitchFamily="34" charset="-120"/>
              </a:rPr>
              <a:t>No en folds solapados; declarar la fracción de muestras compartidas.</a:t>
            </a:r>
            <a:endParaRPr lang="en-US" sz="1100" dirty="0"/>
          </a:p>
        </p:txBody>
      </p:sp>
      <p:sp>
        <p:nvSpPr>
          <p:cNvPr id="24" name="Shape 22"/>
          <p:cNvSpPr/>
          <p:nvPr/>
        </p:nvSpPr>
        <p:spPr>
          <a:xfrm>
            <a:off x="6236208" y="4809744"/>
            <a:ext cx="420624" cy="420624"/>
          </a:xfrm>
          <a:prstGeom prst="ellipse">
            <a:avLst/>
          </a:prstGeom>
          <a:solidFill>
            <a:srgbClr val="262A30"/>
          </a:solidFill>
          <a:ln w="12700">
            <a:solidFill>
              <a:srgbClr val="2A78D6"/>
            </a:solidFill>
            <a:prstDash val="solid"/>
          </a:ln>
        </p:spPr>
      </p:sp>
      <p:sp>
        <p:nvSpPr>
          <p:cNvPr id="25" name="Text 23"/>
          <p:cNvSpPr/>
          <p:nvPr/>
        </p:nvSpPr>
        <p:spPr>
          <a:xfrm>
            <a:off x="6236208" y="4809744"/>
            <a:ext cx="420624" cy="420624"/>
          </a:xfrm>
          <a:prstGeom prst="rect">
            <a:avLst/>
          </a:prstGeom>
          <a:noFill/>
          <a:ln/>
        </p:spPr>
        <p:txBody>
          <a:bodyPr wrap="square" lIns="0" tIns="0" rIns="0" bIns="0" rtlCol="0" anchor="ctr"/>
          <a:lstStyle/>
          <a:p>
            <a:pPr algn="ctr" indent="0" marL="0">
              <a:buNone/>
            </a:pPr>
            <a:r>
              <a:rPr lang="en-US" sz="1400" b="1" dirty="0">
                <a:solidFill>
                  <a:srgbClr val="2A78D6"/>
                </a:solidFill>
                <a:latin typeface="Cambria" pitchFamily="34" charset="0"/>
                <a:ea typeface="Cambria" pitchFamily="34" charset="-122"/>
                <a:cs typeface="Cambria" pitchFamily="34" charset="-120"/>
              </a:rPr>
              <a:t>6</a:t>
            </a:r>
            <a:endParaRPr lang="en-US" sz="1400" dirty="0"/>
          </a:p>
        </p:txBody>
      </p:sp>
      <p:sp>
        <p:nvSpPr>
          <p:cNvPr id="26" name="Text 24"/>
          <p:cNvSpPr/>
          <p:nvPr/>
        </p:nvSpPr>
        <p:spPr>
          <a:xfrm>
            <a:off x="6839712" y="4791456"/>
            <a:ext cx="4754880" cy="347472"/>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Cuantificar la curación automatizada</a:t>
            </a:r>
            <a:endParaRPr lang="en-US" sz="1350" dirty="0"/>
          </a:p>
        </p:txBody>
      </p:sp>
      <p:sp>
        <p:nvSpPr>
          <p:cNvPr id="27" name="Text 25"/>
          <p:cNvSpPr/>
          <p:nvPr/>
        </p:nvSpPr>
        <p:spPr>
          <a:xfrm>
            <a:off x="6839712" y="5157216"/>
            <a:ext cx="4754880" cy="822960"/>
          </a:xfrm>
          <a:prstGeom prst="rect">
            <a:avLst/>
          </a:prstGeom>
          <a:noFill/>
          <a:ln/>
        </p:spPr>
        <p:txBody>
          <a:bodyPr wrap="square" lIns="0" tIns="0" rIns="0" bIns="0" rtlCol="0" anchor="t"/>
          <a:lstStyle/>
          <a:p>
            <a:pPr indent="0" marL="0">
              <a:lnSpc>
                <a:spcPct val="120000"/>
              </a:lnSpc>
              <a:buNone/>
            </a:pPr>
            <a:r>
              <a:rPr lang="en-US" sz="1100" dirty="0">
                <a:solidFill>
                  <a:srgbClr val="9AA7B8"/>
                </a:solidFill>
                <a:latin typeface="Calibri" pitchFamily="34" charset="0"/>
                <a:ea typeface="Calibri" pitchFamily="34" charset="-122"/>
                <a:cs typeface="Calibri" pitchFamily="34" charset="-120"/>
              </a:rPr>
              <a:t>Tasa de éxito por cohorte, y exclusión explícita cuando es baja.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CONCLUSIONES</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Qué sostienen los datos</a:t>
            </a:r>
            <a:endParaRPr lang="en-US" sz="3200" dirty="0"/>
          </a:p>
        </p:txBody>
      </p:sp>
      <p:sp>
        <p:nvSpPr>
          <p:cNvPr id="4" name="Text 2"/>
          <p:cNvSpPr/>
          <p:nvPr/>
        </p:nvSpPr>
        <p:spPr>
          <a:xfrm>
            <a:off x="658368" y="1737360"/>
            <a:ext cx="2286000" cy="658368"/>
          </a:xfrm>
          <a:prstGeom prst="rect">
            <a:avLst/>
          </a:prstGeom>
          <a:noFill/>
          <a:ln/>
        </p:spPr>
        <p:txBody>
          <a:bodyPr wrap="square" lIns="0" tIns="0" rIns="0" bIns="0" rtlCol="0" anchor="t"/>
          <a:lstStyle/>
          <a:p>
            <a:pPr indent="0" marL="0">
              <a:buNone/>
            </a:pPr>
            <a:r>
              <a:rPr lang="en-US" sz="3600" b="1" dirty="0">
                <a:solidFill>
                  <a:srgbClr val="2A78D6"/>
                </a:solidFill>
                <a:latin typeface="Cambria" pitchFamily="34" charset="0"/>
                <a:ea typeface="Cambria" pitchFamily="34" charset="-122"/>
                <a:cs typeface="Cambria" pitchFamily="34" charset="-120"/>
              </a:rPr>
              <a:t>0,772</a:t>
            </a:r>
            <a:endParaRPr lang="en-US" sz="3600" dirty="0"/>
          </a:p>
        </p:txBody>
      </p:sp>
      <p:sp>
        <p:nvSpPr>
          <p:cNvPr id="5" name="Text 3"/>
          <p:cNvSpPr/>
          <p:nvPr/>
        </p:nvSpPr>
        <p:spPr>
          <a:xfrm>
            <a:off x="3127248" y="1810512"/>
            <a:ext cx="8412480" cy="822960"/>
          </a:xfrm>
          <a:prstGeom prst="rect">
            <a:avLst/>
          </a:prstGeom>
          <a:noFill/>
          <a:ln/>
        </p:spPr>
        <p:txBody>
          <a:bodyPr wrap="square" lIns="0" tIns="0" rIns="0" bIns="0" rtlCol="0" anchor="t"/>
          <a:lstStyle/>
          <a:p>
            <a:pPr indent="0" marL="0">
              <a:lnSpc>
                <a:spcPct val="124000"/>
              </a:lnSpc>
              <a:buNone/>
            </a:pPr>
            <a:r>
              <a:rPr lang="en-US" sz="1350" dirty="0">
                <a:solidFill>
                  <a:srgbClr val="52514E"/>
                </a:solidFill>
                <a:latin typeface="Calibri" pitchFamily="34" charset="0"/>
                <a:ea typeface="Calibri" pitchFamily="34" charset="-122"/>
                <a:cs typeface="Calibri" pitchFamily="34" charset="-120"/>
              </a:rPr>
              <a:t>balanced accuracy real sobre cohortes evaluables, frente al valor reportado sobre las once con las monoclase dentro</a:t>
            </a:r>
            <a:endParaRPr lang="en-US" sz="1350" dirty="0"/>
          </a:p>
        </p:txBody>
      </p:sp>
      <p:sp>
        <p:nvSpPr>
          <p:cNvPr id="6" name="Text 4"/>
          <p:cNvSpPr/>
          <p:nvPr/>
        </p:nvSpPr>
        <p:spPr>
          <a:xfrm>
            <a:off x="658368" y="3017520"/>
            <a:ext cx="2286000" cy="658368"/>
          </a:xfrm>
          <a:prstGeom prst="rect">
            <a:avLst/>
          </a:prstGeom>
          <a:noFill/>
          <a:ln/>
        </p:spPr>
        <p:txBody>
          <a:bodyPr wrap="square" lIns="0" tIns="0" rIns="0" bIns="0" rtlCol="0" anchor="t"/>
          <a:lstStyle/>
          <a:p>
            <a:pPr indent="0" marL="0">
              <a:buNone/>
            </a:pPr>
            <a:r>
              <a:rPr lang="en-US" sz="3600" b="1" dirty="0">
                <a:solidFill>
                  <a:srgbClr val="D03B3B"/>
                </a:solidFill>
                <a:latin typeface="Cambria" pitchFamily="34" charset="0"/>
                <a:ea typeface="Cambria" pitchFamily="34" charset="-122"/>
                <a:cs typeface="Cambria" pitchFamily="34" charset="-120"/>
              </a:rPr>
              <a:t>0 de 7</a:t>
            </a:r>
            <a:endParaRPr lang="en-US" sz="3600" dirty="0"/>
          </a:p>
        </p:txBody>
      </p:sp>
      <p:sp>
        <p:nvSpPr>
          <p:cNvPr id="7" name="Text 5"/>
          <p:cNvSpPr/>
          <p:nvPr/>
        </p:nvSpPr>
        <p:spPr>
          <a:xfrm>
            <a:off x="3127248" y="3090672"/>
            <a:ext cx="8412480" cy="822960"/>
          </a:xfrm>
          <a:prstGeom prst="rect">
            <a:avLst/>
          </a:prstGeom>
          <a:noFill/>
          <a:ln/>
        </p:spPr>
        <p:txBody>
          <a:bodyPr wrap="square" lIns="0" tIns="0" rIns="0" bIns="0" rtlCol="0" anchor="t"/>
          <a:lstStyle/>
          <a:p>
            <a:pPr indent="0" marL="0">
              <a:lnSpc>
                <a:spcPct val="124000"/>
              </a:lnSpc>
              <a:buNone/>
            </a:pPr>
            <a:r>
              <a:rPr lang="en-US" sz="1350" dirty="0">
                <a:solidFill>
                  <a:srgbClr val="52514E"/>
                </a:solidFill>
                <a:latin typeface="Calibri" pitchFamily="34" charset="0"/>
                <a:ea typeface="Calibri" pitchFamily="34" charset="-122"/>
                <a:cs typeface="Calibri" pitchFamily="34" charset="-120"/>
              </a:rPr>
              <a:t>genes de la firma previa que replican al ajustar modelos en cohortes disjuntas</a:t>
            </a:r>
            <a:endParaRPr lang="en-US" sz="1350" dirty="0"/>
          </a:p>
        </p:txBody>
      </p:sp>
      <p:sp>
        <p:nvSpPr>
          <p:cNvPr id="8" name="Text 6"/>
          <p:cNvSpPr/>
          <p:nvPr/>
        </p:nvSpPr>
        <p:spPr>
          <a:xfrm>
            <a:off x="658368" y="4297680"/>
            <a:ext cx="2286000" cy="658368"/>
          </a:xfrm>
          <a:prstGeom prst="rect">
            <a:avLst/>
          </a:prstGeom>
          <a:noFill/>
          <a:ln/>
        </p:spPr>
        <p:txBody>
          <a:bodyPr wrap="square" lIns="0" tIns="0" rIns="0" bIns="0" rtlCol="0" anchor="t"/>
          <a:lstStyle/>
          <a:p>
            <a:pPr indent="0" marL="0">
              <a:buNone/>
            </a:pPr>
            <a:r>
              <a:rPr lang="en-US" sz="3600" b="1" dirty="0">
                <a:solidFill>
                  <a:srgbClr val="2A78D6"/>
                </a:solidFill>
                <a:latin typeface="Cambria" pitchFamily="34" charset="0"/>
                <a:ea typeface="Cambria" pitchFamily="34" charset="-122"/>
                <a:cs typeface="Cambria" pitchFamily="34" charset="-120"/>
              </a:rPr>
              <a:t>0,968</a:t>
            </a:r>
            <a:endParaRPr lang="en-US" sz="3600" dirty="0"/>
          </a:p>
        </p:txBody>
      </p:sp>
      <p:sp>
        <p:nvSpPr>
          <p:cNvPr id="9" name="Text 7"/>
          <p:cNvSpPr/>
          <p:nvPr/>
        </p:nvSpPr>
        <p:spPr>
          <a:xfrm>
            <a:off x="3127248" y="4370832"/>
            <a:ext cx="8412480" cy="822960"/>
          </a:xfrm>
          <a:prstGeom prst="rect">
            <a:avLst/>
          </a:prstGeom>
          <a:noFill/>
          <a:ln/>
        </p:spPr>
        <p:txBody>
          <a:bodyPr wrap="square" lIns="0" tIns="0" rIns="0" bIns="0" rtlCol="0" anchor="t"/>
          <a:lstStyle/>
          <a:p>
            <a:pPr indent="0" marL="0">
              <a:lnSpc>
                <a:spcPct val="124000"/>
              </a:lnSpc>
              <a:buNone/>
            </a:pPr>
            <a:r>
              <a:rPr lang="en-US" sz="1350" dirty="0">
                <a:solidFill>
                  <a:srgbClr val="52514E"/>
                </a:solidFill>
                <a:latin typeface="Calibri" pitchFamily="34" charset="0"/>
                <a:ea typeface="Calibri" pitchFamily="34" charset="-122"/>
                <a:cs typeface="Calibri" pitchFamily="34" charset="-120"/>
              </a:rPr>
              <a:t>AUC en subtipo histológico: el marco recupera biología reproducible cuando existe</a:t>
            </a:r>
            <a:endParaRPr lang="en-US" sz="1350" dirty="0"/>
          </a:p>
        </p:txBody>
      </p:sp>
      <p:sp>
        <p:nvSpPr>
          <p:cNvPr id="10" name="Shape 8"/>
          <p:cNvSpPr/>
          <p:nvPr/>
        </p:nvSpPr>
        <p:spPr>
          <a:xfrm>
            <a:off x="658368" y="5541264"/>
            <a:ext cx="10844784" cy="841248"/>
          </a:xfrm>
          <a:prstGeom prst="roundRect">
            <a:avLst>
              <a:gd name="adj" fmla="val 6522"/>
            </a:avLst>
          </a:prstGeom>
          <a:solidFill>
            <a:srgbClr val="1A1D21"/>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1" name="Text 9"/>
          <p:cNvSpPr/>
          <p:nvPr/>
        </p:nvSpPr>
        <p:spPr>
          <a:xfrm>
            <a:off x="1024128" y="5669280"/>
            <a:ext cx="10149840" cy="585216"/>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El framework es válido. El hallazgo original no lo era —y aquí está por qué, medido.</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LÍNEAS FUTURAS</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Preguntas que estos mismos datos ya permiten</a:t>
            </a:r>
            <a:endParaRPr lang="en-US" sz="3200" dirty="0"/>
          </a:p>
        </p:txBody>
      </p:sp>
      <p:sp>
        <p:nvSpPr>
          <p:cNvPr id="4" name="Shape 2"/>
          <p:cNvSpPr/>
          <p:nvPr/>
        </p:nvSpPr>
        <p:spPr>
          <a:xfrm>
            <a:off x="658368" y="1783080"/>
            <a:ext cx="3456432" cy="4114800"/>
          </a:xfrm>
          <a:prstGeom prst="roundRect">
            <a:avLst>
              <a:gd name="adj" fmla="val 1587"/>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5" name="Text 3"/>
          <p:cNvSpPr/>
          <p:nvPr/>
        </p:nvSpPr>
        <p:spPr>
          <a:xfrm>
            <a:off x="950976" y="2029968"/>
            <a:ext cx="2871216" cy="365760"/>
          </a:xfrm>
          <a:prstGeom prst="rect">
            <a:avLst/>
          </a:prstGeom>
          <a:noFill/>
          <a:ln/>
        </p:spPr>
        <p:txBody>
          <a:bodyPr wrap="square" lIns="0" tIns="0" rIns="0" bIns="0" rtlCol="0" anchor="t"/>
          <a:lstStyle/>
          <a:p>
            <a:pPr indent="0" marL="0">
              <a:buNone/>
            </a:pPr>
            <a:r>
              <a:rPr lang="en-US" sz="1700" b="1" dirty="0">
                <a:solidFill>
                  <a:srgbClr val="1A1D21"/>
                </a:solidFill>
                <a:latin typeface="Cambria" pitchFamily="34" charset="0"/>
                <a:ea typeface="Cambria" pitchFamily="34" charset="-122"/>
                <a:cs typeface="Cambria" pitchFamily="34" charset="-120"/>
              </a:rPr>
              <a:t>Pronóstico</a:t>
            </a:r>
            <a:endParaRPr lang="en-US" sz="1700" dirty="0"/>
          </a:p>
        </p:txBody>
      </p:sp>
      <p:sp>
        <p:nvSpPr>
          <p:cNvPr id="6" name="Text 4"/>
          <p:cNvSpPr/>
          <p:nvPr/>
        </p:nvSpPr>
        <p:spPr>
          <a:xfrm>
            <a:off x="950976" y="2523744"/>
            <a:ext cx="2871216" cy="1920240"/>
          </a:xfrm>
          <a:prstGeom prst="rect">
            <a:avLst/>
          </a:prstGeom>
          <a:noFill/>
          <a:ln/>
        </p:spPr>
        <p:txBody>
          <a:bodyPr wrap="square" lIns="0" tIns="0" rIns="0" bIns="0" rtlCol="0" anchor="t"/>
          <a:lstStyle/>
          <a:p>
            <a:pPr indent="0" marL="0">
              <a:lnSpc>
                <a:spcPct val="124000"/>
              </a:lnSpc>
              <a:buNone/>
            </a:pPr>
            <a:r>
              <a:rPr lang="en-US" sz="1150" dirty="0">
                <a:solidFill>
                  <a:srgbClr val="52514E"/>
                </a:solidFill>
                <a:latin typeface="Calibri" pitchFamily="34" charset="0"/>
                <a:ea typeface="Calibri" pitchFamily="34" charset="-122"/>
                <a:cs typeface="Calibri" pitchFamily="34" charset="-120"/>
              </a:rPr>
              <a:t>GSE30219 y GSE50081 tienen seguimiento clínico completo: 307 y 181 tumores, con 200 y 75 eventos de mortalidad. Análisis de supervivencia con validación cruzada entre cohortes.</a:t>
            </a:r>
            <a:endParaRPr lang="en-US" sz="1150" dirty="0"/>
          </a:p>
        </p:txBody>
      </p:sp>
      <p:sp>
        <p:nvSpPr>
          <p:cNvPr id="7" name="Text 5"/>
          <p:cNvSpPr/>
          <p:nvPr/>
        </p:nvSpPr>
        <p:spPr>
          <a:xfrm>
            <a:off x="950976" y="4626864"/>
            <a:ext cx="2871216" cy="1042416"/>
          </a:xfrm>
          <a:prstGeom prst="rect">
            <a:avLst/>
          </a:prstGeom>
          <a:noFill/>
          <a:ln/>
        </p:spPr>
        <p:txBody>
          <a:bodyPr wrap="square" lIns="0" tIns="0" rIns="0" bIns="0" rtlCol="0" anchor="t"/>
          <a:lstStyle/>
          <a:p>
            <a:pPr indent="0" marL="0">
              <a:lnSpc>
                <a:spcPct val="120000"/>
              </a:lnSpc>
              <a:buNone/>
            </a:pPr>
            <a:r>
              <a:rPr lang="en-US" sz="1050" i="1" dirty="0">
                <a:solidFill>
                  <a:srgbClr val="898781"/>
                </a:solidFill>
                <a:latin typeface="Calibri" pitchFamily="34" charset="0"/>
                <a:ea typeface="Calibri" pitchFamily="34" charset="-122"/>
                <a:cs typeface="Calibri" pitchFamily="34" charset="-120"/>
              </a:rPr>
              <a:t>Las dos cohortes que rompían el clasificador binario son las mejores para esta pregunta.</a:t>
            </a:r>
            <a:endParaRPr lang="en-US" sz="1050" dirty="0"/>
          </a:p>
        </p:txBody>
      </p:sp>
      <p:sp>
        <p:nvSpPr>
          <p:cNvPr id="8" name="Shape 6"/>
          <p:cNvSpPr/>
          <p:nvPr/>
        </p:nvSpPr>
        <p:spPr>
          <a:xfrm>
            <a:off x="4370832" y="1783080"/>
            <a:ext cx="3456432" cy="4114800"/>
          </a:xfrm>
          <a:prstGeom prst="roundRect">
            <a:avLst>
              <a:gd name="adj" fmla="val 1587"/>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9" name="Text 7"/>
          <p:cNvSpPr/>
          <p:nvPr/>
        </p:nvSpPr>
        <p:spPr>
          <a:xfrm>
            <a:off x="4663440" y="2029968"/>
            <a:ext cx="2871216" cy="365760"/>
          </a:xfrm>
          <a:prstGeom prst="rect">
            <a:avLst/>
          </a:prstGeom>
          <a:noFill/>
          <a:ln/>
        </p:spPr>
        <p:txBody>
          <a:bodyPr wrap="square" lIns="0" tIns="0" rIns="0" bIns="0" rtlCol="0" anchor="t"/>
          <a:lstStyle/>
          <a:p>
            <a:pPr indent="0" marL="0">
              <a:buNone/>
            </a:pPr>
            <a:r>
              <a:rPr lang="en-US" sz="1700" b="1" dirty="0">
                <a:solidFill>
                  <a:srgbClr val="1A1D21"/>
                </a:solidFill>
                <a:latin typeface="Cambria" pitchFamily="34" charset="0"/>
                <a:ea typeface="Cambria" pitchFamily="34" charset="-122"/>
                <a:cs typeface="Cambria" pitchFamily="34" charset="-120"/>
              </a:rPr>
              <a:t>Alteración conductora</a:t>
            </a:r>
            <a:endParaRPr lang="en-US" sz="1700" dirty="0"/>
          </a:p>
        </p:txBody>
      </p:sp>
      <p:sp>
        <p:nvSpPr>
          <p:cNvPr id="10" name="Text 8"/>
          <p:cNvSpPr/>
          <p:nvPr/>
        </p:nvSpPr>
        <p:spPr>
          <a:xfrm>
            <a:off x="4663440" y="2523744"/>
            <a:ext cx="2871216" cy="1920240"/>
          </a:xfrm>
          <a:prstGeom prst="rect">
            <a:avLst/>
          </a:prstGeom>
          <a:noFill/>
          <a:ln/>
        </p:spPr>
        <p:txBody>
          <a:bodyPr wrap="square" lIns="0" tIns="0" rIns="0" bIns="0" rtlCol="0" anchor="t"/>
          <a:lstStyle/>
          <a:p>
            <a:pPr indent="0" marL="0">
              <a:lnSpc>
                <a:spcPct val="124000"/>
              </a:lnSpc>
              <a:buNone/>
            </a:pPr>
            <a:r>
              <a:rPr lang="en-US" sz="1150" dirty="0">
                <a:solidFill>
                  <a:srgbClr val="52514E"/>
                </a:solidFill>
                <a:latin typeface="Calibri" pitchFamily="34" charset="0"/>
                <a:ea typeface="Calibri" pitchFamily="34" charset="-122"/>
                <a:cs typeface="Calibri" pitchFamily="34" charset="-120"/>
              </a:rPr>
              <a:t>GSE31210 incluye el estado de los genes conductores: 127 tumores con mutación de EGFR, 20 de KRAS, 11 con fusión de ALK y 68 sin ninguna de las tres.</a:t>
            </a:r>
            <a:endParaRPr lang="en-US" sz="1150" dirty="0"/>
          </a:p>
        </p:txBody>
      </p:sp>
      <p:sp>
        <p:nvSpPr>
          <p:cNvPr id="11" name="Text 9"/>
          <p:cNvSpPr/>
          <p:nvPr/>
        </p:nvSpPr>
        <p:spPr>
          <a:xfrm>
            <a:off x="4663440" y="4626864"/>
            <a:ext cx="2871216" cy="1042416"/>
          </a:xfrm>
          <a:prstGeom prst="rect">
            <a:avLst/>
          </a:prstGeom>
          <a:noFill/>
          <a:ln/>
        </p:spPr>
        <p:txBody>
          <a:bodyPr wrap="square" lIns="0" tIns="0" rIns="0" bIns="0" rtlCol="0" anchor="t"/>
          <a:lstStyle/>
          <a:p>
            <a:pPr indent="0" marL="0">
              <a:lnSpc>
                <a:spcPct val="120000"/>
              </a:lnSpc>
              <a:buNone/>
            </a:pPr>
            <a:r>
              <a:rPr lang="en-US" sz="1050" i="1" dirty="0">
                <a:solidFill>
                  <a:srgbClr val="898781"/>
                </a:solidFill>
                <a:latin typeface="Calibri" pitchFamily="34" charset="0"/>
                <a:ea typeface="Calibri" pitchFamily="34" charset="-122"/>
                <a:cs typeface="Calibri" pitchFamily="34" charset="-120"/>
              </a:rPr>
              <a:t>Predecir la alteración desde el perfil de expresión.</a:t>
            </a:r>
            <a:endParaRPr lang="en-US" sz="1050" dirty="0"/>
          </a:p>
        </p:txBody>
      </p:sp>
      <p:sp>
        <p:nvSpPr>
          <p:cNvPr id="12" name="Shape 10"/>
          <p:cNvSpPr/>
          <p:nvPr/>
        </p:nvSpPr>
        <p:spPr>
          <a:xfrm>
            <a:off x="8083296" y="1783080"/>
            <a:ext cx="3456432" cy="4114800"/>
          </a:xfrm>
          <a:prstGeom prst="roundRect">
            <a:avLst>
              <a:gd name="adj" fmla="val 1587"/>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3" name="Text 11"/>
          <p:cNvSpPr/>
          <p:nvPr/>
        </p:nvSpPr>
        <p:spPr>
          <a:xfrm>
            <a:off x="8375904" y="2029968"/>
            <a:ext cx="2871216" cy="365760"/>
          </a:xfrm>
          <a:prstGeom prst="rect">
            <a:avLst/>
          </a:prstGeom>
          <a:noFill/>
          <a:ln/>
        </p:spPr>
        <p:txBody>
          <a:bodyPr wrap="square" lIns="0" tIns="0" rIns="0" bIns="0" rtlCol="0" anchor="t"/>
          <a:lstStyle/>
          <a:p>
            <a:pPr indent="0" marL="0">
              <a:buNone/>
            </a:pPr>
            <a:r>
              <a:rPr lang="en-US" sz="1700" b="1" dirty="0">
                <a:solidFill>
                  <a:srgbClr val="1A1D21"/>
                </a:solidFill>
                <a:latin typeface="Cambria" pitchFamily="34" charset="0"/>
                <a:ea typeface="Cambria" pitchFamily="34" charset="-122"/>
                <a:cs typeface="Cambria" pitchFamily="34" charset="-120"/>
              </a:rPr>
              <a:t>Deconvolución celular</a:t>
            </a:r>
            <a:endParaRPr lang="en-US" sz="1700" dirty="0"/>
          </a:p>
        </p:txBody>
      </p:sp>
      <p:sp>
        <p:nvSpPr>
          <p:cNvPr id="14" name="Text 12"/>
          <p:cNvSpPr/>
          <p:nvPr/>
        </p:nvSpPr>
        <p:spPr>
          <a:xfrm>
            <a:off x="8375904" y="2523744"/>
            <a:ext cx="2871216" cy="1920240"/>
          </a:xfrm>
          <a:prstGeom prst="rect">
            <a:avLst/>
          </a:prstGeom>
          <a:noFill/>
          <a:ln/>
        </p:spPr>
        <p:txBody>
          <a:bodyPr wrap="square" lIns="0" tIns="0" rIns="0" bIns="0" rtlCol="0" anchor="t"/>
          <a:lstStyle/>
          <a:p>
            <a:pPr indent="0" marL="0">
              <a:lnSpc>
                <a:spcPct val="124000"/>
              </a:lnSpc>
              <a:buNone/>
            </a:pPr>
            <a:r>
              <a:rPr lang="en-US" sz="1150" dirty="0">
                <a:solidFill>
                  <a:srgbClr val="52514E"/>
                </a:solidFill>
                <a:latin typeface="Calibri" pitchFamily="34" charset="0"/>
                <a:ea typeface="Calibri" pitchFamily="34" charset="-122"/>
                <a:cs typeface="Calibri" pitchFamily="34" charset="-120"/>
              </a:rPr>
              <a:t>Sustituir el panel de marcadores promediado por estimación de proporciones celulares, para cuantificar la composición tisular con rigor.</a:t>
            </a:r>
            <a:endParaRPr lang="en-US" sz="1150" dirty="0"/>
          </a:p>
        </p:txBody>
      </p:sp>
      <p:sp>
        <p:nvSpPr>
          <p:cNvPr id="15" name="Text 13"/>
          <p:cNvSpPr/>
          <p:nvPr/>
        </p:nvSpPr>
        <p:spPr>
          <a:xfrm>
            <a:off x="8375904" y="4626864"/>
            <a:ext cx="2871216" cy="1042416"/>
          </a:xfrm>
          <a:prstGeom prst="rect">
            <a:avLst/>
          </a:prstGeom>
          <a:noFill/>
          <a:ln/>
        </p:spPr>
        <p:txBody>
          <a:bodyPr wrap="square" lIns="0" tIns="0" rIns="0" bIns="0" rtlCol="0" anchor="t"/>
          <a:lstStyle/>
          <a:p>
            <a:pPr indent="0" marL="0">
              <a:lnSpc>
                <a:spcPct val="120000"/>
              </a:lnSpc>
              <a:buNone/>
            </a:pPr>
            <a:r>
              <a:rPr lang="en-US" sz="1050" i="1" dirty="0">
                <a:solidFill>
                  <a:srgbClr val="898781"/>
                </a:solidFill>
                <a:latin typeface="Calibri" pitchFamily="34" charset="0"/>
                <a:ea typeface="Calibri" pitchFamily="34" charset="-122"/>
                <a:cs typeface="Calibri" pitchFamily="34" charset="-120"/>
              </a:rPr>
              <a:t>Y recuperar las tres cohortes de RNA-seq no procesadas, que permitirían evaluar la transferencia entre plataformas.</a:t>
            </a:r>
            <a:endParaRPr lang="en-US" sz="1050" dirty="0"/>
          </a:p>
        </p:txBody>
      </p:sp>
      <p:sp>
        <p:nvSpPr>
          <p:cNvPr id="16" name="Text 14"/>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Ninguna requiere descargar datos nuevos: los metadatos clínicos ya están en disco y no se habían utilizado.</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p:nvPr/>
        </p:nvSpPr>
        <p:spPr>
          <a:xfrm>
            <a:off x="658368" y="182880"/>
            <a:ext cx="10844784" cy="237744"/>
          </a:xfrm>
          <a:prstGeom prst="rect">
            <a:avLst/>
          </a:prstGeom>
          <a:noFill/>
          <a:ln/>
        </p:spPr>
        <p:txBody>
          <a:bodyPr wrap="square" lIns="0" tIns="0" rIns="0" bIns="0" rtlCol="0" anchor="ctr"/>
          <a:lstStyle/>
          <a:p>
            <a:pPr indent="0" marL="0">
              <a:buNone/>
            </a:pPr>
            <a:r>
              <a:rPr lang="en-US" sz="1000" b="1" spc="240" kern="0" dirty="0">
                <a:solidFill>
                  <a:srgbClr val="898781"/>
                </a:solidFill>
                <a:latin typeface="Calibri" pitchFamily="34" charset="0"/>
                <a:ea typeface="Calibri" pitchFamily="34" charset="-122"/>
                <a:cs typeface="Calibri" pitchFamily="34" charset="-120"/>
              </a:rPr>
              <a:t>REFERENCIAS</a:t>
            </a:r>
            <a:endParaRPr lang="en-US" sz="1000" dirty="0"/>
          </a:p>
        </p:txBody>
      </p:sp>
      <p:sp>
        <p:nvSpPr>
          <p:cNvPr id="3" name="Text 1"/>
          <p:cNvSpPr/>
          <p:nvPr/>
        </p:nvSpPr>
        <p:spPr>
          <a:xfrm>
            <a:off x="658368" y="420624"/>
            <a:ext cx="10844784" cy="1097280"/>
          </a:xfrm>
          <a:prstGeom prst="rect">
            <a:avLst/>
          </a:prstGeom>
          <a:noFill/>
          <a:ln/>
        </p:spPr>
        <p:txBody>
          <a:bodyPr wrap="square" lIns="0" tIns="0" rIns="0" bIns="0" rtlCol="0" anchor="t"/>
          <a:lstStyle/>
          <a:p>
            <a:pPr indent="0" marL="0">
              <a:buNone/>
            </a:pPr>
            <a:r>
              <a:rPr lang="en-US" sz="3200" b="1" dirty="0">
                <a:solidFill>
                  <a:srgbClr val="1A1D21"/>
                </a:solidFill>
                <a:latin typeface="Cambria" pitchFamily="34" charset="0"/>
                <a:ea typeface="Cambria" pitchFamily="34" charset="-122"/>
                <a:cs typeface="Cambria" pitchFamily="34" charset="-120"/>
              </a:rPr>
              <a:t>Referencias</a:t>
            </a:r>
            <a:endParaRPr lang="en-US" sz="3200" dirty="0"/>
          </a:p>
        </p:txBody>
      </p:sp>
      <p:sp>
        <p:nvSpPr>
          <p:cNvPr id="4" name="Text 2"/>
          <p:cNvSpPr/>
          <p:nvPr/>
        </p:nvSpPr>
        <p:spPr>
          <a:xfrm>
            <a:off x="658368" y="1627632"/>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Bray, F. et al. (2024). Global cancer statistics 2022: GLOBOCAN estimates of incidence and mortality worldwide. CA: A Cancer Journal for Clinicians, 74(3).</a:t>
            </a:r>
            <a:endParaRPr lang="en-US" sz="1050" dirty="0"/>
          </a:p>
        </p:txBody>
      </p:sp>
      <p:sp>
        <p:nvSpPr>
          <p:cNvPr id="5" name="Text 3"/>
          <p:cNvSpPr/>
          <p:nvPr/>
        </p:nvSpPr>
        <p:spPr>
          <a:xfrm>
            <a:off x="658368" y="2029968"/>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Barrett, T. et al. (2013). NCBI GEO: archive for functional genomics data sets — update. Nucleic Acids Research, 41(D1).</a:t>
            </a:r>
            <a:endParaRPr lang="en-US" sz="1050" dirty="0"/>
          </a:p>
        </p:txBody>
      </p:sp>
      <p:sp>
        <p:nvSpPr>
          <p:cNvPr id="6" name="Text 4"/>
          <p:cNvSpPr/>
          <p:nvPr/>
        </p:nvSpPr>
        <p:spPr>
          <a:xfrm>
            <a:off x="658368" y="2432304"/>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Leek, J. T. et al. (2010). Tackling the widespread and critical impact of batch effects in high-throughput data. Nature Reviews Genetics, 11(10).</a:t>
            </a:r>
            <a:endParaRPr lang="en-US" sz="1050" dirty="0"/>
          </a:p>
        </p:txBody>
      </p:sp>
      <p:sp>
        <p:nvSpPr>
          <p:cNvPr id="7" name="Text 5"/>
          <p:cNvSpPr/>
          <p:nvPr/>
        </p:nvSpPr>
        <p:spPr>
          <a:xfrm>
            <a:off x="658368" y="2834640"/>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Bernau, C. et al. (2014). Cross-study validation for the assessment of prediction algorithms. Bioinformatics, 30(12).</a:t>
            </a:r>
            <a:endParaRPr lang="en-US" sz="1050" dirty="0"/>
          </a:p>
        </p:txBody>
      </p:sp>
      <p:sp>
        <p:nvSpPr>
          <p:cNvPr id="8" name="Text 6"/>
          <p:cNvSpPr/>
          <p:nvPr/>
        </p:nvSpPr>
        <p:spPr>
          <a:xfrm>
            <a:off x="658368" y="3236976"/>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Ioannidis, J. P. A. (2005). Why most published research findings are false. PLoS Medicine, 2(8).</a:t>
            </a:r>
            <a:endParaRPr lang="en-US" sz="1050" dirty="0"/>
          </a:p>
        </p:txBody>
      </p:sp>
      <p:sp>
        <p:nvSpPr>
          <p:cNvPr id="9" name="Text 7"/>
          <p:cNvSpPr/>
          <p:nvPr/>
        </p:nvSpPr>
        <p:spPr>
          <a:xfrm>
            <a:off x="658368" y="3639312"/>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Benjamini, Y. y Hochberg, Y. (1995). Controlling the false discovery rate. Journal of the Royal Statistical Society B, 57(1).</a:t>
            </a:r>
            <a:endParaRPr lang="en-US" sz="1050" dirty="0"/>
          </a:p>
        </p:txBody>
      </p:sp>
      <p:sp>
        <p:nvSpPr>
          <p:cNvPr id="10" name="Text 8"/>
          <p:cNvSpPr/>
          <p:nvPr/>
        </p:nvSpPr>
        <p:spPr>
          <a:xfrm>
            <a:off x="658368" y="4041648"/>
            <a:ext cx="6858000" cy="365760"/>
          </a:xfrm>
          <a:prstGeom prst="rect">
            <a:avLst/>
          </a:prstGeom>
          <a:noFill/>
          <a:ln/>
        </p:spPr>
        <p:txBody>
          <a:bodyPr wrap="square" lIns="0" tIns="0" rIns="0" bIns="0" rtlCol="0" anchor="t"/>
          <a:lstStyle/>
          <a:p>
            <a:pPr indent="0" marL="0">
              <a:lnSpc>
                <a:spcPct val="114000"/>
              </a:lnSpc>
              <a:buNone/>
            </a:pPr>
            <a:r>
              <a:rPr lang="en-US" sz="1050" dirty="0">
                <a:solidFill>
                  <a:srgbClr val="52514E"/>
                </a:solidFill>
                <a:latin typeface="Calibri" pitchFamily="34" charset="0"/>
                <a:ea typeface="Calibri" pitchFamily="34" charset="-122"/>
                <a:cs typeface="Calibri" pitchFamily="34" charset="-120"/>
              </a:rPr>
              <a:t>Tibshirani, R. (1996). Regression shrinkage and selection via the lasso. Journal of the Royal Statistical Society B, 58(1).</a:t>
            </a:r>
            <a:endParaRPr lang="en-US" sz="1050" dirty="0"/>
          </a:p>
        </p:txBody>
      </p:sp>
      <p:sp>
        <p:nvSpPr>
          <p:cNvPr id="11" name="Shape 9"/>
          <p:cNvSpPr/>
          <p:nvPr/>
        </p:nvSpPr>
        <p:spPr>
          <a:xfrm>
            <a:off x="7772400" y="1627632"/>
            <a:ext cx="3730752" cy="3383280"/>
          </a:xfrm>
          <a:prstGeom prst="roundRect">
            <a:avLst>
              <a:gd name="adj" fmla="val 1622"/>
            </a:avLst>
          </a:prstGeom>
          <a:solidFill>
            <a:srgbClr val="F1F0EC"/>
          </a:solidFill>
          <a:ln w="7620">
            <a:solidFill>
              <a:srgbClr val="E4E3DE"/>
            </a:solidFill>
            <a:prstDash val="solid"/>
          </a:ln>
          <a:effectLst>
            <a:outerShdw sx="100000" sy="100000" kx="0" ky="0" algn="bl" rotWithShape="0" blurRad="88900" dist="17780" dir="5400000">
              <a:srgbClr val="B8B7B2">
                <a:alpha val="20000"/>
              </a:srgbClr>
            </a:outerShdw>
          </a:effectLst>
        </p:spPr>
      </p:sp>
      <p:sp>
        <p:nvSpPr>
          <p:cNvPr id="12" name="Text 10"/>
          <p:cNvSpPr/>
          <p:nvPr/>
        </p:nvSpPr>
        <p:spPr>
          <a:xfrm>
            <a:off x="8065008" y="1865376"/>
            <a:ext cx="3145536" cy="256032"/>
          </a:xfrm>
          <a:prstGeom prst="rect">
            <a:avLst/>
          </a:prstGeom>
          <a:noFill/>
          <a:ln/>
        </p:spPr>
        <p:txBody>
          <a:bodyPr wrap="square" lIns="0" tIns="0" rIns="0" bIns="0" rtlCol="0" anchor="ctr"/>
          <a:lstStyle/>
          <a:p>
            <a:pPr indent="0" marL="0">
              <a:buNone/>
            </a:pPr>
            <a:r>
              <a:rPr lang="en-US" sz="950" b="1" spc="150" kern="0" dirty="0">
                <a:solidFill>
                  <a:srgbClr val="898781"/>
                </a:solidFill>
                <a:latin typeface="Calibri" pitchFamily="34" charset="0"/>
                <a:ea typeface="Calibri" pitchFamily="34" charset="-122"/>
                <a:cs typeface="Calibri" pitchFamily="34" charset="-120"/>
              </a:rPr>
              <a:t>COHORTES ANALIZADAS</a:t>
            </a:r>
            <a:endParaRPr lang="en-US" sz="950" dirty="0"/>
          </a:p>
        </p:txBody>
      </p:sp>
      <p:sp>
        <p:nvSpPr>
          <p:cNvPr id="13" name="Text 11"/>
          <p:cNvSpPr/>
          <p:nvPr/>
        </p:nvSpPr>
        <p:spPr>
          <a:xfrm>
            <a:off x="8065008" y="2194560"/>
            <a:ext cx="3145536" cy="1371600"/>
          </a:xfrm>
          <a:prstGeom prst="rect">
            <a:avLst/>
          </a:prstGeom>
          <a:noFill/>
          <a:ln/>
        </p:spPr>
        <p:txBody>
          <a:bodyPr wrap="square" lIns="0" tIns="0" rIns="0" bIns="0" rtlCol="0" anchor="t"/>
          <a:lstStyle/>
          <a:p>
            <a:pPr indent="0" marL="0">
              <a:lnSpc>
                <a:spcPct val="130000"/>
              </a:lnSpc>
              <a:buNone/>
            </a:pPr>
            <a:r>
              <a:rPr lang="en-US" sz="1100" dirty="0">
                <a:solidFill>
                  <a:srgbClr val="52514E"/>
                </a:solidFill>
                <a:latin typeface="Calibri" pitchFamily="34" charset="0"/>
                <a:ea typeface="Calibri" pitchFamily="34" charset="-122"/>
                <a:cs typeface="Calibri" pitchFamily="34" charset="-120"/>
              </a:rPr>
              <a:t>GSE118370 · GSE140797 · GSE18842 · GSE19188 · GSE19804 · GSE23066 · GSE30219 · GSE31210 · GSE40791 · GSE50081 · GSE7670</a:t>
            </a:r>
            <a:endParaRPr lang="en-US" sz="1100" dirty="0"/>
          </a:p>
        </p:txBody>
      </p:sp>
      <p:sp>
        <p:nvSpPr>
          <p:cNvPr id="14" name="Text 12"/>
          <p:cNvSpPr/>
          <p:nvPr/>
        </p:nvSpPr>
        <p:spPr>
          <a:xfrm>
            <a:off x="8065008" y="3584448"/>
            <a:ext cx="3145536" cy="1280160"/>
          </a:xfrm>
          <a:prstGeom prst="rect">
            <a:avLst/>
          </a:prstGeom>
          <a:noFill/>
          <a:ln/>
        </p:spPr>
        <p:txBody>
          <a:bodyPr wrap="square" lIns="0" tIns="0" rIns="0" bIns="0" rtlCol="0" anchor="t"/>
          <a:lstStyle/>
          <a:p>
            <a:pPr indent="0" marL="0">
              <a:lnSpc>
                <a:spcPct val="120000"/>
              </a:lnSpc>
              <a:buNone/>
            </a:pPr>
            <a:r>
              <a:rPr lang="en-US" sz="1000" dirty="0">
                <a:solidFill>
                  <a:srgbClr val="898781"/>
                </a:solidFill>
                <a:latin typeface="Calibri" pitchFamily="34" charset="0"/>
                <a:ea typeface="Calibri" pitchFamily="34" charset="-122"/>
                <a:cs typeface="Calibri" pitchFamily="34" charset="-120"/>
              </a:rPr>
              <a:t>Publicaciones originales de las cohortes principales: Rousseaux et al. (2013), Sci Transl Med, GSE30219 · Der et al. (2014), J Thorac Oncol, GSE50081 · Okayama et al. (2012), Cancer Res, GSE31210 · Hou et al. (2010), PLoS ONE, GSE19188.</a:t>
            </a:r>
            <a:endParaRPr lang="en-US" sz="1000" dirty="0"/>
          </a:p>
        </p:txBody>
      </p:sp>
      <p:sp>
        <p:nvSpPr>
          <p:cNvPr id="15" name="Text 13"/>
          <p:cNvSpPr/>
          <p:nvPr/>
        </p:nvSpPr>
        <p:spPr>
          <a:xfrm>
            <a:off x="658368" y="5394960"/>
            <a:ext cx="10844784" cy="365760"/>
          </a:xfrm>
          <a:prstGeom prst="rect">
            <a:avLst/>
          </a:prstGeom>
          <a:noFill/>
          <a:ln/>
        </p:spPr>
        <p:txBody>
          <a:bodyPr wrap="square" lIns="0" tIns="0" rIns="0" bIns="0" rtlCol="0" anchor="ctr"/>
          <a:lstStyle/>
          <a:p>
            <a:pPr indent="0" marL="0">
              <a:buNone/>
            </a:pPr>
            <a:r>
              <a:rPr lang="en-US" sz="1150" dirty="0">
                <a:solidFill>
                  <a:srgbClr val="1A1D21"/>
                </a:solidFill>
                <a:latin typeface="Calibri" pitchFamily="34" charset="0"/>
                <a:ea typeface="Calibri" pitchFamily="34" charset="-122"/>
                <a:cs typeface="Calibri" pitchFamily="34" charset="-120"/>
              </a:rPr>
              <a:t>Código y resultados: github.com/danitapiadiez-gif/TFM-Bioinformatica</a:t>
            </a:r>
            <a:endParaRPr lang="en-US" sz="1150" dirty="0"/>
          </a:p>
        </p:txBody>
      </p:sp>
      <p:sp>
        <p:nvSpPr>
          <p:cNvPr id="16" name="Text 14"/>
          <p:cNvSpPr/>
          <p:nvPr/>
        </p:nvSpPr>
        <p:spPr>
          <a:xfrm>
            <a:off x="658368" y="6382512"/>
            <a:ext cx="10844784" cy="25603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Todos los análisis son reproducibles: random_state fijado, y las tablas y figuras se generan desde los CSV de resultados.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p:bgPr>
    </p:bg>
    <p:spTree>
      <p:nvGrpSpPr>
        <p:cNvPr id="1" name=""/>
        <p:cNvGrpSpPr/>
        <p:nvPr/>
      </p:nvGrpSpPr>
      <p:grpSpPr>
        <a:xfrm>
          <a:off x="0" y="0"/>
          <a:ext cx="0" cy="0"/>
          <a:chOff x="0" y="0"/>
          <a:chExt cx="0" cy="0"/>
        </a:xfrm>
      </p:grpSpPr>
      <p:sp>
        <p:nvSpPr>
          <p:cNvPr id="2" name="Text 0"/>
          <p:cNvSpPr/>
          <p:nvPr/>
        </p:nvSpPr>
        <p:spPr>
          <a:xfrm>
            <a:off x="658368" y="2286000"/>
            <a:ext cx="73152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Gracias</a:t>
            </a:r>
            <a:endParaRPr lang="en-US" sz="4600" dirty="0"/>
          </a:p>
        </p:txBody>
      </p:sp>
      <p:sp>
        <p:nvSpPr>
          <p:cNvPr id="3" name="Shape 1"/>
          <p:cNvSpPr/>
          <p:nvPr/>
        </p:nvSpPr>
        <p:spPr>
          <a:xfrm>
            <a:off x="658368" y="3529584"/>
            <a:ext cx="2377440" cy="0"/>
          </a:xfrm>
          <a:prstGeom prst="line">
            <a:avLst/>
          </a:prstGeom>
          <a:noFill/>
          <a:ln w="30480">
            <a:solidFill>
              <a:srgbClr val="2A78D6"/>
            </a:solidFill>
            <a:prstDash val="solid"/>
          </a:ln>
        </p:spPr>
      </p:sp>
      <p:sp>
        <p:nvSpPr>
          <p:cNvPr id="4" name="Text 2"/>
          <p:cNvSpPr/>
          <p:nvPr/>
        </p:nvSpPr>
        <p:spPr>
          <a:xfrm>
            <a:off x="658368" y="3785616"/>
            <a:ext cx="8595360" cy="731520"/>
          </a:xfrm>
          <a:prstGeom prst="rect">
            <a:avLst/>
          </a:prstGeom>
          <a:noFill/>
          <a:ln/>
        </p:spPr>
        <p:txBody>
          <a:bodyPr wrap="square" lIns="0" tIns="0" rIns="0" bIns="0" rtlCol="0" anchor="ctr"/>
          <a:lstStyle/>
          <a:p>
            <a:pPr indent="0" marL="0">
              <a:lnSpc>
                <a:spcPct val="124000"/>
              </a:lnSpc>
              <a:buNone/>
            </a:pPr>
            <a:r>
              <a:rPr lang="en-US" sz="1700" i="1" dirty="0">
                <a:solidFill>
                  <a:srgbClr val="C3C2B7"/>
                </a:solidFill>
                <a:latin typeface="Cambria" pitchFamily="34" charset="0"/>
                <a:ea typeface="Cambria" pitchFamily="34" charset="-122"/>
                <a:cs typeface="Cambria" pitchFamily="34" charset="-120"/>
              </a:rPr>
              <a:t>Un resultado negativo bien medido dice más que un resultado positivo mal validado.</a:t>
            </a:r>
            <a:endParaRPr lang="en-US" sz="1700" dirty="0"/>
          </a:p>
        </p:txBody>
      </p:sp>
      <p:sp>
        <p:nvSpPr>
          <p:cNvPr id="5" name="Text 3"/>
          <p:cNvSpPr/>
          <p:nvPr/>
        </p:nvSpPr>
        <p:spPr>
          <a:xfrm>
            <a:off x="658368" y="5120640"/>
            <a:ext cx="7315200" cy="822960"/>
          </a:xfrm>
          <a:prstGeom prst="rect">
            <a:avLst/>
          </a:prstGeom>
          <a:noFill/>
          <a:ln/>
        </p:spPr>
        <p:txBody>
          <a:bodyPr wrap="square" lIns="0" tIns="0" rIns="0" bIns="0" rtlCol="0" anchor="ctr"/>
          <a:lstStyle/>
          <a:p>
            <a:pPr indent="0" marL="0">
              <a:lnSpc>
                <a:spcPct val="124000"/>
              </a:lnSpc>
              <a:buNone/>
            </a:pPr>
            <a:r>
              <a:rPr lang="en-US" sz="1300" b="1" dirty="0">
                <a:solidFill>
                  <a:srgbClr val="FFFFFF"/>
                </a:solidFill>
                <a:latin typeface="Calibri" pitchFamily="34" charset="0"/>
                <a:ea typeface="Calibri" pitchFamily="34" charset="-122"/>
                <a:cs typeface="Calibri" pitchFamily="34" charset="-120"/>
              </a:rPr>
              <a:t>Daniel Tapia Díez</a:t>
            </a:r>
            <a:pPr indent="0" marL="0">
              <a:lnSpc>
                <a:spcPct val="124000"/>
              </a:lnSpc>
              <a:buNone/>
            </a:pPr>
            <a:endParaRPr lang="en-US" sz="1300" dirty="0"/>
          </a:p>
          <a:p>
            <a:pPr indent="0" marL="0">
              <a:lnSpc>
                <a:spcPct val="124000"/>
              </a:lnSpc>
              <a:buNone/>
            </a:pPr>
            <a:r>
              <a:rPr lang="en-US" sz="1150" dirty="0">
                <a:solidFill>
                  <a:srgbClr val="898781"/>
                </a:solidFill>
                <a:latin typeface="Calibri" pitchFamily="34" charset="0"/>
                <a:ea typeface="Calibri" pitchFamily="34" charset="-122"/>
                <a:cs typeface="Calibri" pitchFamily="34" charset="-120"/>
              </a:rPr>
              <a:t>Máster Universitario en Bioinformática  ·  Universidad Alfonso X el Sabio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Auditoria de reproducibilidad de firmas transcriptomicas</dc:title>
  <dc:subject>PptxGenJS Presentation</dc:subject>
  <dc:creator>Daniel Tapia Diez</dc:creator>
  <cp:lastModifiedBy>Daniel Tapia Diez</cp:lastModifiedBy>
  <cp:revision>1</cp:revision>
  <dcterms:created xsi:type="dcterms:W3CDTF">2026-08-03T18:13:56Z</dcterms:created>
  <dcterms:modified xsi:type="dcterms:W3CDTF">2026-08-03T18:13:56Z</dcterms:modified>
</cp:coreProperties>
</file>